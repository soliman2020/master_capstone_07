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3CAD0-6F4A-42F1-EE85-7B3421D464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D342D1-0962-DBA7-FF3F-39C28158FD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D6D5-8204-1A1D-FCE4-A965A93C1D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DA4091-DF43-8D2D-B2A7-ADAD0ED028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16CB39-9AF8-CF6B-0684-30D1617FD1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41969F-5825-566F-0182-814C91D419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50E656-AC5B-6385-12B9-41A01FEAF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4FC5F-66AD-327E-3205-ED17A3EAE9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19FB6-C959-90D0-EA10-88E3DC6FEF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D20308-5E36-FB1F-F988-2ED277ADDA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3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91925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709253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46622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3598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5731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54810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05332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79707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2423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00686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7165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5561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122938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867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336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203927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03270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33485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605273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16118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8989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37637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65239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338131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389788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969058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01721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72134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33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966430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2768988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2220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15459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35020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441616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22160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05735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59066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50719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01364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49078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59172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189992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313089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47486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94998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16414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77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58779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0133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004520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48862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16256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57066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25221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88794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9198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747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52631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30509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30015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82432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362425" name="Rectangle 1"/>
          <p:cNvSpPr/>
          <p:nvPr/>
        </p:nvSpPr>
        <p:spPr bwMode="auto">
          <a:xfrm>
            <a:off x="0" y="0"/>
            <a:ext cx="36576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6135420" name="TextBox 2"/>
          <p:cNvSpPr txBox="1"/>
          <p:nvPr/>
        </p:nvSpPr>
        <p:spPr bwMode="auto">
          <a:xfrm>
            <a:off x="914400" y="1828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Industry-Integrated AI Synthesis — Project 7</a:t>
            </a:r>
            <a:endParaRPr/>
          </a:p>
        </p:txBody>
      </p:sp>
      <p:sp>
        <p:nvSpPr>
          <p:cNvPr id="1291529303" name="TextBox 3"/>
          <p:cNvSpPr txBox="1"/>
          <p:nvPr/>
        </p:nvSpPr>
        <p:spPr bwMode="auto">
          <a:xfrm>
            <a:off x="914400" y="22860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4000" b="1" i="0">
                <a:solidFill>
                  <a:srgbClr val="0B3D91"/>
                </a:solidFill>
                <a:latin typeface="Segoe UI"/>
              </a:rPr>
              <a:t>SOC Security Operations Copilot</a:t>
            </a:r>
            <a:endParaRPr/>
          </a:p>
        </p:txBody>
      </p:sp>
      <p:sp>
        <p:nvSpPr>
          <p:cNvPr id="559720158" name="TextBox 4"/>
          <p:cNvSpPr txBox="1"/>
          <p:nvPr/>
        </p:nvSpPr>
        <p:spPr bwMode="auto">
          <a:xfrm>
            <a:off x="914400" y="3566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800" b="0" i="0">
                <a:solidFill>
                  <a:srgbClr val="1A1A1A"/>
                </a:solidFill>
                <a:latin typeface="Segoe UI"/>
              </a:rPr>
              <a:t>Mentor Defense — 15 minutes</a:t>
            </a:r>
            <a:endParaRPr/>
          </a:p>
        </p:txBody>
      </p:sp>
      <p:sp>
        <p:nvSpPr>
          <p:cNvPr id="318983512" name="TextBox 5"/>
          <p:cNvSpPr txBox="1"/>
          <p:nvPr/>
        </p:nvSpPr>
        <p:spPr bwMode="auto"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0">
                <a:solidFill>
                  <a:srgbClr val="555555"/>
                </a:solidFill>
                <a:latin typeface="Segoe UI"/>
              </a:rPr>
              <a:t>Soliman  ·  Final synthesis capstone, Udacity AI Mastery</a:t>
            </a:r>
            <a:endParaRPr/>
          </a:p>
        </p:txBody>
      </p:sp>
      <p:sp>
        <p:nvSpPr>
          <p:cNvPr id="806250702" name="Rectangle 6"/>
          <p:cNvSpPr/>
          <p:nvPr/>
        </p:nvSpPr>
        <p:spPr bwMode="auto">
          <a:xfrm>
            <a:off x="914400" y="5120640"/>
            <a:ext cx="1033272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247593" name="TextBox 7"/>
          <p:cNvSpPr txBox="1"/>
          <p:nvPr/>
        </p:nvSpPr>
        <p:spPr bwMode="auto">
          <a:xfrm>
            <a:off x="1097280" y="525780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1A1A1A"/>
                </a:solidFill>
                <a:latin typeface="Segoe UI"/>
              </a:rPr>
              <a:t>Rules-first fusion  +  RAG-grounded summarization  +  non-bypassable human-approval gate.</a:t>
            </a:r>
            <a:endParaRPr/>
          </a:p>
          <a:p>
            <a:pPr>
              <a:defRPr/>
            </a:pPr>
            <a:r>
              <a:rPr sz="1400" b="0" i="1">
                <a:solidFill>
                  <a:srgbClr val="1A1A1A"/>
                </a:solidFill>
                <a:latin typeface="Segoe UI"/>
              </a:rPr>
              <a:t>Built on P1's real corpus, P2's calibration, P3's rules discipline, P5's prose genre, and P6's governance spine.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28543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1. Industry Context and Problem Definition  ·  ~1.5 min</a:t>
            </a:r>
            <a:endParaRPr/>
          </a:p>
        </p:txBody>
      </p:sp>
      <p:sp>
        <p:nvSpPr>
          <p:cNvPr id="1767423980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Security operations is a 3 a.m. paragraph-writing job</a:t>
            </a:r>
            <a:endParaRPr/>
          </a:p>
        </p:txBody>
      </p:sp>
      <p:sp>
        <p:nvSpPr>
          <p:cNvPr id="1580855644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Why this problem matters, and why AI is the right tool</a:t>
            </a:r>
            <a:endParaRPr/>
          </a:p>
        </p:txBody>
      </p:sp>
      <p:sp>
        <p:nvSpPr>
          <p:cNvPr id="357605245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4838065" name="TextBox 5"/>
          <p:cNvSpPr txBox="1"/>
          <p:nvPr/>
        </p:nvSpPr>
        <p:spPr bwMode="auto">
          <a:xfrm>
            <a:off x="457200" y="155448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500" b="0" i="0">
                <a:solidFill>
                  <a:srgbClr val="1A1A1A"/>
                </a:solidFill>
                <a:latin typeface="Segoe UI"/>
              </a:rPr>
              <a:t>•  Security Operations Centers fuse surveillance feeds, badge-access logs, and alarm streams — thousands of events a day per site.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500" b="0" i="0">
                <a:solidFill>
                  <a:srgbClr val="1A1A1A"/>
                </a:solidFill>
                <a:latin typeface="Segoe UI"/>
              </a:rPr>
              <a:t>•  The hard task is cross-screen correlation: a single incident (e.g. tailgate + forced door) is invisible to either screen alone.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500" b="0" i="0">
                <a:solidFill>
                  <a:srgbClr val="1A1A1A"/>
                </a:solidFill>
                <a:latin typeface="Segoe UI"/>
              </a:rPr>
              <a:t>•  The 3 a.m. operator is the closer: they read the fused signal, match it to policy, write the analyst-facing paragraph, and decide whether to dispatch security.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500" b="0" i="0">
                <a:solidFill>
                  <a:srgbClr val="1A1A1A"/>
                </a:solidFill>
                <a:latin typeface="Segoe UI"/>
              </a:rPr>
              <a:t>•  Today's tools give them raw streams. The job of paragraph-writing and policy-matching is what's automatable; the call is not.</a:t>
            </a:r>
            <a:endParaRPr/>
          </a:p>
        </p:txBody>
      </p:sp>
      <p:sp>
        <p:nvSpPr>
          <p:cNvPr id="1570275607" name="Rectangle 6"/>
          <p:cNvSpPr/>
          <p:nvPr/>
        </p:nvSpPr>
        <p:spPr bwMode="auto">
          <a:xfrm>
            <a:off x="6400800" y="1554480"/>
            <a:ext cx="5303520" cy="4114800"/>
          </a:xfrm>
          <a:prstGeom prst="rect">
            <a:avLst/>
          </a:prstGeom>
          <a:solidFill>
            <a:srgbClr val="F3F5F8"/>
          </a:solidFill>
          <a:ln w="9525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9420816" name="TextBox 7"/>
          <p:cNvSpPr txBox="1"/>
          <p:nvPr/>
        </p:nvSpPr>
        <p:spPr bwMode="auto">
          <a:xfrm>
            <a:off x="6583680" y="16916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1" i="0">
                <a:solidFill>
                  <a:srgbClr val="0B3D91"/>
                </a:solidFill>
                <a:latin typeface="Segoe UI"/>
              </a:rPr>
              <a:t>Why an AI approach fits</a:t>
            </a:r>
            <a:endParaRPr/>
          </a:p>
        </p:txBody>
      </p:sp>
      <p:sp>
        <p:nvSpPr>
          <p:cNvPr id="1748606354" name="TextBox 8"/>
          <p:cNvSpPr txBox="1"/>
          <p:nvPr/>
        </p:nvSpPr>
        <p:spPr bwMode="auto">
          <a:xfrm>
            <a:off x="6583680" y="2057400"/>
            <a:ext cx="502920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Signal fusion is exactly what rules + retrieval do well: deterministic correlation across streams, policy-grounded output.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Generative summarization with citations is the paragraph-writing piece the operator shouldn't be doing at 3 a.m.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Human-in-the-loop is the right trust model for irreversible actions: the system recommends, the operator decides.</a:t>
            </a:r>
            <a:endParaRPr/>
          </a:p>
        </p:txBody>
      </p:sp>
      <p:sp>
        <p:nvSpPr>
          <p:cNvPr id="504775741" name="TextBox 9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1966692735" name="TextBox 10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2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312773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2. Integrated AI System Overview  ·  ~1.5 min</a:t>
            </a:r>
            <a:endParaRPr/>
          </a:p>
        </p:txBody>
      </p:sp>
      <p:sp>
        <p:nvSpPr>
          <p:cNvPr id="1848506009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Five subsystems compose one end-to-end pipeline</a:t>
            </a:r>
            <a:endParaRPr/>
          </a:p>
        </p:txBody>
      </p:sp>
      <p:sp>
        <p:nvSpPr>
          <p:cNvPr id="1240010211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Each layer is small, swappable, and tested</a:t>
            </a:r>
            <a:endParaRPr/>
          </a:p>
        </p:txBody>
      </p:sp>
      <p:sp>
        <p:nvSpPr>
          <p:cNvPr id="840458757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583711" name="Rectangle 5"/>
          <p:cNvSpPr/>
          <p:nvPr/>
        </p:nvSpPr>
        <p:spPr bwMode="auto">
          <a:xfrm>
            <a:off x="472287" y="1828800"/>
            <a:ext cx="2103120" cy="1554480"/>
          </a:xfrm>
          <a:prstGeom prst="rect">
            <a:avLst/>
          </a:prstGeom>
          <a:solidFill>
            <a:srgbClr val="E8F0FE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6536963" name="TextBox 6"/>
          <p:cNvSpPr txBox="1"/>
          <p:nvPr/>
        </p:nvSpPr>
        <p:spPr bwMode="auto">
          <a:xfrm>
            <a:off x="472287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Generators</a:t>
            </a:r>
            <a:endParaRPr/>
          </a:p>
        </p:txBody>
      </p:sp>
      <p:sp>
        <p:nvSpPr>
          <p:cNvPr id="833338964" name="TextBox 7"/>
          <p:cNvSpPr txBox="1"/>
          <p:nvPr/>
        </p:nvSpPr>
        <p:spPr bwMode="auto">
          <a:xfrm>
            <a:off x="563727" y="237744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P1 corpus →</a:t>
            </a:r>
            <a:endParaRPr/>
          </a:p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1k events + 9.7k logs</a:t>
            </a:r>
            <a:endParaRPr/>
          </a:p>
        </p:txBody>
      </p:sp>
      <p:sp>
        <p:nvSpPr>
          <p:cNvPr id="1091385483" name="TextBox 8"/>
          <p:cNvSpPr txBox="1"/>
          <p:nvPr/>
        </p:nvSpPr>
        <p:spPr bwMode="auto">
          <a:xfrm>
            <a:off x="2575407" y="2377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000" b="1" i="0">
                <a:solidFill>
                  <a:srgbClr val="0B3D91"/>
                </a:solidFill>
                <a:latin typeface="Segoe UI"/>
              </a:rPr>
              <a:t>→</a:t>
            </a:r>
            <a:endParaRPr/>
          </a:p>
        </p:txBody>
      </p:sp>
      <p:sp>
        <p:nvSpPr>
          <p:cNvPr id="93481626" name="Rectangle 9"/>
          <p:cNvSpPr/>
          <p:nvPr/>
        </p:nvSpPr>
        <p:spPr bwMode="auto">
          <a:xfrm>
            <a:off x="2758287" y="1828800"/>
            <a:ext cx="2103120" cy="1554480"/>
          </a:xfrm>
          <a:prstGeom prst="rect">
            <a:avLst/>
          </a:prstGeom>
          <a:solidFill>
            <a:srgbClr val="E8F0FE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2409221" name="TextBox 10"/>
          <p:cNvSpPr txBox="1"/>
          <p:nvPr/>
        </p:nvSpPr>
        <p:spPr bwMode="auto">
          <a:xfrm>
            <a:off x="2758287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Fusion</a:t>
            </a:r>
            <a:endParaRPr/>
          </a:p>
        </p:txBody>
      </p:sp>
      <p:sp>
        <p:nvSpPr>
          <p:cNvPr id="1637213710" name="TextBox 11"/>
          <p:cNvSpPr txBox="1"/>
          <p:nvPr/>
        </p:nvSpPr>
        <p:spPr bwMode="auto">
          <a:xfrm>
            <a:off x="2849727" y="237744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4 rules →</a:t>
            </a:r>
            <a:endParaRPr/>
          </a:p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226 risk-scored incidents</a:t>
            </a:r>
            <a:endParaRPr/>
          </a:p>
        </p:txBody>
      </p:sp>
      <p:sp>
        <p:nvSpPr>
          <p:cNvPr id="1518987849" name="TextBox 12"/>
          <p:cNvSpPr txBox="1"/>
          <p:nvPr/>
        </p:nvSpPr>
        <p:spPr bwMode="auto">
          <a:xfrm>
            <a:off x="4861407" y="2377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000" b="1" i="0">
                <a:solidFill>
                  <a:srgbClr val="0B3D91"/>
                </a:solidFill>
                <a:latin typeface="Segoe UI"/>
              </a:rPr>
              <a:t>→</a:t>
            </a:r>
            <a:endParaRPr/>
          </a:p>
        </p:txBody>
      </p:sp>
      <p:sp>
        <p:nvSpPr>
          <p:cNvPr id="1506214825" name="Rectangle 13"/>
          <p:cNvSpPr/>
          <p:nvPr/>
        </p:nvSpPr>
        <p:spPr bwMode="auto">
          <a:xfrm>
            <a:off x="5044287" y="1828800"/>
            <a:ext cx="2103120" cy="1554480"/>
          </a:xfrm>
          <a:prstGeom prst="rect">
            <a:avLst/>
          </a:prstGeom>
          <a:solidFill>
            <a:srgbClr val="E8F0FE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25161" name="TextBox 14"/>
          <p:cNvSpPr txBox="1"/>
          <p:nvPr/>
        </p:nvSpPr>
        <p:spPr bwMode="auto">
          <a:xfrm>
            <a:off x="5044287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RAG</a:t>
            </a:r>
            <a:endParaRPr/>
          </a:p>
        </p:txBody>
      </p:sp>
      <p:sp>
        <p:nvSpPr>
          <p:cNvPr id="1370182103" name="TextBox 15"/>
          <p:cNvSpPr txBox="1"/>
          <p:nvPr/>
        </p:nvSpPr>
        <p:spPr bwMode="auto">
          <a:xfrm>
            <a:off x="5135727" y="237744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Chroma + MiniLM</a:t>
            </a:r>
            <a:endParaRPr/>
          </a:p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+ category routing</a:t>
            </a:r>
            <a:endParaRPr/>
          </a:p>
        </p:txBody>
      </p:sp>
      <p:sp>
        <p:nvSpPr>
          <p:cNvPr id="1132924213" name="TextBox 16"/>
          <p:cNvSpPr txBox="1"/>
          <p:nvPr/>
        </p:nvSpPr>
        <p:spPr bwMode="auto">
          <a:xfrm>
            <a:off x="7147407" y="2377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000" b="1" i="0">
                <a:solidFill>
                  <a:srgbClr val="0B3D91"/>
                </a:solidFill>
                <a:latin typeface="Segoe UI"/>
              </a:rPr>
              <a:t>→</a:t>
            </a:r>
            <a:endParaRPr/>
          </a:p>
        </p:txBody>
      </p:sp>
      <p:sp>
        <p:nvSpPr>
          <p:cNvPr id="774620665" name="Rectangle 17"/>
          <p:cNvSpPr/>
          <p:nvPr/>
        </p:nvSpPr>
        <p:spPr bwMode="auto">
          <a:xfrm>
            <a:off x="7330287" y="1828800"/>
            <a:ext cx="2103120" cy="1554480"/>
          </a:xfrm>
          <a:prstGeom prst="rect">
            <a:avLst/>
          </a:prstGeom>
          <a:solidFill>
            <a:srgbClr val="E8F0FE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3649747" name="TextBox 18"/>
          <p:cNvSpPr txBox="1"/>
          <p:nvPr/>
        </p:nvSpPr>
        <p:spPr bwMode="auto">
          <a:xfrm>
            <a:off x="7330287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Summarizer</a:t>
            </a:r>
            <a:endParaRPr/>
          </a:p>
        </p:txBody>
      </p:sp>
      <p:sp>
        <p:nvSpPr>
          <p:cNvPr id="679853015" name="TextBox 19"/>
          <p:cNvSpPr txBox="1"/>
          <p:nvPr/>
        </p:nvSpPr>
        <p:spPr bwMode="auto">
          <a:xfrm>
            <a:off x="7421727" y="237744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Groq 8B +</a:t>
            </a:r>
            <a:endParaRPr/>
          </a:p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citation guard</a:t>
            </a:r>
            <a:endParaRPr/>
          </a:p>
        </p:txBody>
      </p:sp>
      <p:sp>
        <p:nvSpPr>
          <p:cNvPr id="1912185653" name="TextBox 20"/>
          <p:cNvSpPr txBox="1"/>
          <p:nvPr/>
        </p:nvSpPr>
        <p:spPr bwMode="auto">
          <a:xfrm>
            <a:off x="9433407" y="2377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000" b="1" i="0">
                <a:solidFill>
                  <a:srgbClr val="0B3D91"/>
                </a:solidFill>
                <a:latin typeface="Segoe UI"/>
              </a:rPr>
              <a:t>→</a:t>
            </a:r>
            <a:endParaRPr/>
          </a:p>
        </p:txBody>
      </p:sp>
      <p:sp>
        <p:nvSpPr>
          <p:cNvPr id="1637953920" name="Rectangle 21"/>
          <p:cNvSpPr/>
          <p:nvPr/>
        </p:nvSpPr>
        <p:spPr bwMode="auto">
          <a:xfrm>
            <a:off x="9616287" y="1828800"/>
            <a:ext cx="2103120" cy="1554480"/>
          </a:xfrm>
          <a:prstGeom prst="rect">
            <a:avLst/>
          </a:prstGeom>
          <a:solidFill>
            <a:srgbClr val="E8F0FE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3092466" name="TextBox 22"/>
          <p:cNvSpPr txBox="1"/>
          <p:nvPr/>
        </p:nvSpPr>
        <p:spPr bwMode="auto">
          <a:xfrm>
            <a:off x="9616287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Agent</a:t>
            </a:r>
            <a:endParaRPr/>
          </a:p>
        </p:txBody>
      </p:sp>
      <p:sp>
        <p:nvSpPr>
          <p:cNvPr id="1181311512" name="TextBox 23"/>
          <p:cNvSpPr txBox="1"/>
          <p:nvPr/>
        </p:nvSpPr>
        <p:spPr bwMode="auto">
          <a:xfrm>
            <a:off x="9707727" y="237744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LangGraph +</a:t>
            </a:r>
            <a:endParaRPr/>
          </a:p>
          <a:p>
            <a:pPr algn="ctr"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human-approval gate</a:t>
            </a:r>
            <a:endParaRPr/>
          </a:p>
        </p:txBody>
      </p:sp>
      <p:sp>
        <p:nvSpPr>
          <p:cNvPr id="355641794" name="TextBox 24"/>
          <p:cNvSpPr txBox="1"/>
          <p:nvPr/>
        </p:nvSpPr>
        <p:spPr bwMode="auto">
          <a:xfrm>
            <a:off x="457200" y="393192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Composes 5 prior projects into one cohesive system — not a collection of disconnected notebooks.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Each layer has a single responsibility and a small, named test (rules, retrieval, summarizer, governance gate, audit chain).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Same `run_incident_streaming` entry point for CLI, notebook, pytest, and the Streamlit GUI — no parallel API surfaces.</a:t>
            </a:r>
            <a:endParaRPr/>
          </a:p>
        </p:txBody>
      </p:sp>
      <p:sp>
        <p:nvSpPr>
          <p:cNvPr id="251790920" name="TextBox 25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959269664" name="TextBox 26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3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155057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2. Integrated AI System Overview  ·  continued</a:t>
            </a:r>
            <a:endParaRPr/>
          </a:p>
        </p:txBody>
      </p:sp>
      <p:sp>
        <p:nvSpPr>
          <p:cNvPr id="952784167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The LangGraph governance topology</a:t>
            </a:r>
            <a:endParaRPr/>
          </a:p>
        </p:txBody>
      </p:sp>
      <p:sp>
        <p:nvSpPr>
          <p:cNvPr id="279116766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Compiled view of the agent the rubric submission notebook runs</a:t>
            </a:r>
            <a:endParaRPr/>
          </a:p>
        </p:txBody>
      </p:sp>
      <p:sp>
        <p:nvSpPr>
          <p:cNvPr id="1951825719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69573777" name="Picture 5" descr="agent_graph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64105" y="1923676"/>
            <a:ext cx="2593776" cy="3570343"/>
          </a:xfrm>
          <a:prstGeom prst="rect">
            <a:avLst/>
          </a:prstGeom>
        </p:spPr>
      </p:pic>
      <p:sp>
        <p:nvSpPr>
          <p:cNvPr id="862546915" name="TextBox 6"/>
          <p:cNvSpPr txBox="1"/>
          <p:nvPr/>
        </p:nvSpPr>
        <p:spPr bwMode="auto"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100" b="0" i="0">
                <a:solidFill>
                  <a:srgbClr val="1A1A1A"/>
                </a:solidFill>
                <a:latin typeface="Segoe UI"/>
              </a:rPr>
              <a:t>•  ingest → planner → worker → reviewer → {worker_dispatch · human_approval · summarizer}; reviewer is the only policy gate in the system.</a:t>
            </a:r>
            <a:endParaRPr/>
          </a:p>
        </p:txBody>
      </p:sp>
      <p:sp>
        <p:nvSpPr>
          <p:cNvPr id="700518751" name="TextBox 7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2124417864" name="TextBox 8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4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4933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3. Integration of Prior Capstone Projects  ·  ~1.5 min</a:t>
            </a:r>
            <a:endParaRPr/>
          </a:p>
        </p:txBody>
      </p:sp>
      <p:sp>
        <p:nvSpPr>
          <p:cNvPr id="190246599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Five prior projects, one system</a:t>
            </a:r>
            <a:endParaRPr/>
          </a:p>
        </p:txBody>
      </p:sp>
      <p:sp>
        <p:nvSpPr>
          <p:cNvPr id="1740146326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P1 data · P2 calibration · P3 rules · P5 prose · P6 governance</a:t>
            </a:r>
            <a:endParaRPr/>
          </a:p>
        </p:txBody>
      </p:sp>
      <p:sp>
        <p:nvSpPr>
          <p:cNvPr id="548058103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276806420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554480"/>
          <a:ext cx="11247118" cy="43891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11680"/>
                <a:gridCol w="5120639"/>
                <a:gridCol w="4114799"/>
              </a:tblGrid>
              <a:tr h="73152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  <a:endParaRPr/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it contributed</a:t>
                      </a:r>
                      <a:endParaRPr/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Evidence</a:t>
                      </a:r>
                      <a:endParaRPr/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P1 — Reproducible workflows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The full corpus the copilot runs on (1k events / 9.7k logs / 3 sites); the schema-adapter that normalizes it.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src/generators/p1_pipeline.py · src/utils/p1_adapter.py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P2 — Statistical analysis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The 0.85 confidence threshold as a *contract*, not a constant. P2's chi-square + t-test are re-run on the slice the copilot runs against.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tests/test_threshold_calibration.py · notebook §2b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P3 — Applied ML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Rules-first discipline + the leakage-audit lesson. The fusion layer is rules-only; any future ML must split by site + contiguous time_window.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src/fusion/rules.py · src/fusion/risk_scorer.py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P5 — Generative AI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Genre reference for analyst-voice prose (NIST SP 800-61 / CSIRT / CERT). The summarizer itself is a citation-grounded LLM call, not the P5 model.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src/agent/summarizer.py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P6 — Agentic AI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The LangGraph governance spine, lifted and adapted (one plan-loop fix). The non-bypassable policy gate hard-blocks `case.close` and gates `incident.escalate`.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src/governance/ · src/domain/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8914649" name="TextBox 6"/>
          <p:cNvSpPr txBox="1"/>
          <p:nvPr/>
        </p:nvSpPr>
        <p:spPr bwMode="auto"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00" b="0" i="1">
                <a:solidFill>
                  <a:srgbClr val="555555"/>
                </a:solidFill>
                <a:latin typeface="Segoe UI"/>
              </a:rPr>
              <a:t>Removing any one of these layers breaks a real capability (fusion, policy routing, grounded summaries, or the non-bypassable escalation gate).</a:t>
            </a:r>
            <a:endParaRPr/>
          </a:p>
        </p:txBody>
      </p:sp>
      <p:sp>
        <p:nvSpPr>
          <p:cNvPr id="718469941" name="TextBox 7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55712196" name="TextBox 8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5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397137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4. Key Technical Decisions and Tradeoffs  ·  ~2 min</a:t>
            </a:r>
            <a:endParaRPr/>
          </a:p>
        </p:txBody>
      </p:sp>
      <p:sp>
        <p:nvSpPr>
          <p:cNvPr id="155104008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Three decisions that shaped the system</a:t>
            </a:r>
            <a:endParaRPr/>
          </a:p>
        </p:txBody>
      </p:sp>
      <p:sp>
        <p:nvSpPr>
          <p:cNvPr id="2095145573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Each one is a tradeoff, with the alternative explicit</a:t>
            </a:r>
            <a:endParaRPr/>
          </a:p>
        </p:txBody>
      </p:sp>
      <p:sp>
        <p:nvSpPr>
          <p:cNvPr id="322765854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7859804" name="Rectangle 5"/>
          <p:cNvSpPr/>
          <p:nvPr/>
        </p:nvSpPr>
        <p:spPr bwMode="auto">
          <a:xfrm>
            <a:off x="457200" y="1554480"/>
            <a:ext cx="11247120" cy="1508759"/>
          </a:xfrm>
          <a:prstGeom prst="rect">
            <a:avLst/>
          </a:prstGeom>
          <a:solidFill>
            <a:srgbClr val="E8F0FE"/>
          </a:solidFill>
          <a:ln w="63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5833779" name="TextBox 6"/>
          <p:cNvSpPr txBox="1"/>
          <p:nvPr/>
        </p:nvSpPr>
        <p:spPr bwMode="auto">
          <a:xfrm>
            <a:off x="640080" y="1645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Rules-first fusion, not an ML scorer</a:t>
            </a:r>
            <a:endParaRPr/>
          </a:p>
        </p:txBody>
      </p:sp>
      <p:sp>
        <p:nvSpPr>
          <p:cNvPr id="2038832779" name="TextBox 7"/>
          <p:cNvSpPr txBox="1"/>
          <p:nvPr/>
        </p:nvSpPr>
        <p:spPr bwMode="auto">
          <a:xfrm>
            <a:off x="640080" y="20116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Choice:  Per-rule base + size/confidence bonus, capped at 100, with the firing rule recorded on every incident.</a:t>
            </a:r>
            <a:endParaRPr/>
          </a:p>
        </p:txBody>
      </p:sp>
      <p:sp>
        <p:nvSpPr>
          <p:cNvPr id="837489029" name="TextBox 8"/>
          <p:cNvSpPr txBox="1"/>
          <p:nvPr/>
        </p:nvSpPr>
        <p:spPr bwMode="auto">
          <a:xfrm>
            <a:off x="640080" y="242316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0" i="1">
                <a:solidFill>
                  <a:srgbClr val="555555"/>
                </a:solidFill>
                <a:latin typeface="Segoe UI"/>
              </a:rPr>
              <a:t>Alternative: a learned scorer. Tradeoff: rules are auditable; an ML scorer would learn patterns the rules miss but be opaque. ML is a swap-in behind the same `risk_scorer.py` interface when the rule layer earns its keep — and P2's calibration test confirms the cost honestly (recall@0.85 = 58%).</a:t>
            </a:r>
            <a:endParaRPr/>
          </a:p>
        </p:txBody>
      </p:sp>
      <p:sp>
        <p:nvSpPr>
          <p:cNvPr id="2090805534" name="Rectangle 9"/>
          <p:cNvSpPr/>
          <p:nvPr/>
        </p:nvSpPr>
        <p:spPr bwMode="auto">
          <a:xfrm>
            <a:off x="457200" y="3182112"/>
            <a:ext cx="11247120" cy="1508759"/>
          </a:xfrm>
          <a:prstGeom prst="rect">
            <a:avLst/>
          </a:prstGeom>
          <a:solidFill>
            <a:srgbClr val="E8F0FE"/>
          </a:solidFill>
          <a:ln w="63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5243320" name="TextBox 10"/>
          <p:cNvSpPr txBox="1"/>
          <p:nvPr/>
        </p:nvSpPr>
        <p:spPr bwMode="auto">
          <a:xfrm>
            <a:off x="640080" y="327355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Chroma + MiniLM, not a hosted vector DB</a:t>
            </a:r>
            <a:endParaRPr/>
          </a:p>
        </p:txBody>
      </p:sp>
      <p:sp>
        <p:nvSpPr>
          <p:cNvPr id="103537438" name="TextBox 11"/>
          <p:cNvSpPr txBox="1"/>
          <p:nvPr/>
        </p:nvSpPr>
        <p:spPr bwMode="auto">
          <a:xfrm>
            <a:off x="640080" y="363931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Choice:  5-doc KB, in-process, persistent across runs. 384-dim, normalized cosine. Category routing boosts the matching category by 0.3 before MMR.</a:t>
            </a:r>
            <a:endParaRPr/>
          </a:p>
        </p:txBody>
      </p:sp>
      <p:sp>
        <p:nvSpPr>
          <p:cNvPr id="213872977" name="TextBox 12"/>
          <p:cNvSpPr txBox="1"/>
          <p:nvPr/>
        </p:nvSpPr>
        <p:spPr bwMode="auto">
          <a:xfrm>
            <a:off x="640080" y="405079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0" i="1">
                <a:solidFill>
                  <a:srgbClr val="555555"/>
                </a:solidFill>
                <a:latin typeface="Segoe UI"/>
              </a:rPr>
              <a:t>Alternative: a hosted vector DB. Tradeoff: ~3 s model load on first call vs. a monthly bill, an API key, and a network dependency. The KB doesn't pay for BM25 + cross-encoder yet; those are the right next step, not a bigger stack today.</a:t>
            </a:r>
            <a:endParaRPr/>
          </a:p>
        </p:txBody>
      </p:sp>
      <p:sp>
        <p:nvSpPr>
          <p:cNvPr id="127813888" name="Rectangle 13"/>
          <p:cNvSpPr/>
          <p:nvPr/>
        </p:nvSpPr>
        <p:spPr bwMode="auto">
          <a:xfrm>
            <a:off x="457200" y="4809744"/>
            <a:ext cx="11247120" cy="1508759"/>
          </a:xfrm>
          <a:prstGeom prst="rect">
            <a:avLst/>
          </a:prstGeom>
          <a:solidFill>
            <a:srgbClr val="E8F0FE"/>
          </a:solidFill>
          <a:ln w="63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0184687" name="TextBox 14"/>
          <p:cNvSpPr txBox="1"/>
          <p:nvPr/>
        </p:nvSpPr>
        <p:spPr bwMode="auto">
          <a:xfrm>
            <a:off x="640080" y="49011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Citation guard on a free 8B model</a:t>
            </a:r>
            <a:endParaRPr/>
          </a:p>
        </p:txBody>
      </p:sp>
      <p:sp>
        <p:nvSpPr>
          <p:cNvPr id="637137387" name="TextBox 15"/>
          <p:cNvSpPr txBox="1"/>
          <p:nvPr/>
        </p:nvSpPr>
        <p:spPr bwMode="auto">
          <a:xfrm>
            <a:off x="640080" y="5266944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00" b="0" i="0">
                <a:solidFill>
                  <a:srgbClr val="1A1A1A"/>
                </a:solidFill>
                <a:latin typeface="Segoe UI"/>
              </a:rPr>
              <a:t>Choice:  Parse KB-XXXXX from the model output, keep only retrieved ids, retry once with a stricter prompt, else mark `needs_review`.</a:t>
            </a:r>
            <a:endParaRPr/>
          </a:p>
        </p:txBody>
      </p:sp>
      <p:sp>
        <p:nvSpPr>
          <p:cNvPr id="265318294" name="TextBox 16"/>
          <p:cNvSpPr txBox="1"/>
          <p:nvPr/>
        </p:nvSpPr>
        <p:spPr bwMode="auto">
          <a:xfrm>
            <a:off x="640080" y="567842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0" i="1">
                <a:solidFill>
                  <a:srgbClr val="555555"/>
                </a:solidFill>
                <a:latin typeface="Segoe UI"/>
              </a:rPr>
              <a:t>Alternative: a bigger model. Tradeoff: ~1 in 50 incidents pays one extra Groq call; in exchange, hallucinated policy citations are impossible, not just unlikely. The cheapest possible defence against the most common grounded-generation failure.</a:t>
            </a:r>
            <a:endParaRPr/>
          </a:p>
        </p:txBody>
      </p:sp>
      <p:sp>
        <p:nvSpPr>
          <p:cNvPr id="1355483400" name="TextBox 17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653997997" name="TextBox 18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6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341532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5. Ethical Considerations and Responsible AI  ·  ~1.5 min</a:t>
            </a:r>
            <a:endParaRPr/>
          </a:p>
        </p:txBody>
      </p:sp>
      <p:sp>
        <p:nvSpPr>
          <p:cNvPr id="2144540564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Ethics, made concrete in the system</a:t>
            </a:r>
            <a:endParaRPr/>
          </a:p>
        </p:txBody>
      </p:sp>
      <p:sp>
        <p:nvSpPr>
          <p:cNvPr id="1026390071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Not a footnote — a code path, a test, a UI button</a:t>
            </a:r>
            <a:endParaRPr/>
          </a:p>
        </p:txBody>
      </p:sp>
      <p:sp>
        <p:nvSpPr>
          <p:cNvPr id="1794606984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665888249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554480"/>
          <a:ext cx="11247119" cy="42062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77440"/>
                <a:gridCol w="4114799"/>
                <a:gridCol w="4754880"/>
              </a:tblGrid>
              <a:tr h="841248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  <a:endParaRPr/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Why it matters here</a:t>
                      </a:r>
                      <a:endParaRPr/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the system does about it</a:t>
                      </a:r>
                      <a:endParaRPr/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Misuse / fabricated authority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Surveillance + access data is sensitive; a model that invents a policy justification is the worst failure mode.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Citation guard (summarizer.py): KB-XXXXX must be in the retrieved set, else `needs_review`.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Accountability / auto-escalation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Escalation is irreversible — it dispatches security, suspends badges.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`case.close` is hard-blocked; `incident.escalate` requires human approval at risk_band_score ≥ 80.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Transparency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Every incident must be traceable to a rule, a score, and a citation.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Per-rule provenance (`_rule`); raw cosine score returned (bonus is ordering-only); hash-chained audit log.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Calibration honesty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A rule with a 42% anomaly blind spot is a deployed lie unless surfaced.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P2's recall@0.85 = 58% is asserted in `test_threshold_calibration.py`; the GUI shows the raw numbers.</a:t>
                      </a:r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798505151" name="TextBox 6"/>
          <p:cNvSpPr txBox="1"/>
          <p:nvPr/>
        </p:nvSpPr>
        <p:spPr bwMode="auto"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300" b="0" i="1">
                <a:solidFill>
                  <a:srgbClr val="0B3D91"/>
                </a:solidFill>
                <a:latin typeface="Segoe UI"/>
              </a:rPr>
              <a:t>The system recommends and surfaces. The operator keeps judgment, override, and accountability.</a:t>
            </a:r>
            <a:endParaRPr/>
          </a:p>
        </p:txBody>
      </p:sp>
      <p:sp>
        <p:nvSpPr>
          <p:cNvPr id="1984250866" name="TextBox 7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909211111" name="TextBox 8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7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643825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6. Evaluation, Limitations, and Risks  ·  ~2 min</a:t>
            </a:r>
            <a:endParaRPr/>
          </a:p>
        </p:txBody>
      </p:sp>
      <p:sp>
        <p:nvSpPr>
          <p:cNvPr id="338130464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What worked, what didn't, what's known to be wrong</a:t>
            </a:r>
            <a:endParaRPr/>
          </a:p>
        </p:txBody>
      </p:sp>
      <p:sp>
        <p:nvSpPr>
          <p:cNvPr id="1705977453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Strengths are real; limitations are surfaced, not hidden</a:t>
            </a:r>
            <a:endParaRPr/>
          </a:p>
        </p:txBody>
      </p:sp>
      <p:sp>
        <p:nvSpPr>
          <p:cNvPr id="902184202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79030" name="TextBox 5"/>
          <p:cNvSpPr txBox="1"/>
          <p:nvPr/>
        </p:nvSpPr>
        <p:spPr bwMode="auto"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Strengths</a:t>
            </a:r>
            <a:endParaRPr/>
          </a:p>
        </p:txBody>
      </p:sp>
      <p:sp>
        <p:nvSpPr>
          <p:cNvPr id="2110528473" name="TextBox 6"/>
          <p:cNvSpPr txBox="1"/>
          <p:nvPr/>
        </p:nvSpPr>
        <p:spPr bwMode="auto">
          <a:xfrm>
            <a:off x="457200" y="192024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Notebook: Restart &amp; Run All clean across 30 cells.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Tests: 34/34 green across 5 files (governance, policy, escalate-blocked, threshold-calibration, upload-adapter).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RAG self-check: every incident_type routes to its matching KB doc at rank 1.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Summarizer: 4/4 spot-check incidents cite the correct policy doc; 0 `needs_review`.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Operator UX: the same `run_incident_streaming` entry point powers CLI, notebook, pytest, and the GUI.</a:t>
            </a:r>
            <a:endParaRPr/>
          </a:p>
        </p:txBody>
      </p:sp>
      <p:sp>
        <p:nvSpPr>
          <p:cNvPr id="835626986" name="TextBox 7"/>
          <p:cNvSpPr txBox="1"/>
          <p:nvPr/>
        </p:nvSpPr>
        <p:spPr bwMode="auto"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D93025"/>
                </a:solidFill>
                <a:latin typeface="Segoe UI"/>
              </a:rPr>
              <a:t>Limitations &amp; risks</a:t>
            </a:r>
            <a:endParaRPr/>
          </a:p>
        </p:txBody>
      </p:sp>
      <p:sp>
        <p:nvSpPr>
          <p:cNvPr id="1483895242" name="TextBox 8"/>
          <p:cNvSpPr txBox="1"/>
          <p:nvPr/>
        </p:nvSpPr>
        <p:spPr bwMode="auto">
          <a:xfrm>
            <a:off x="6309360" y="192024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Fusion recall@0.85 = 58% (P2 hard finding; surfaced to operators, not hidden).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Free 8B model occasionally invents kwarg names — handled by an arg-filtering wrapper.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Audit log carries an unrepaired break at an early sequence number; the GUI shows the warning honestly.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Data is P1's synthetic corpus, not a real SOC environment.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•  Streamlit GUI is local-only; no auth; per-session uploads live under data/uploads/{uuid}/.</a:t>
            </a:r>
            <a:endParaRPr/>
          </a:p>
        </p:txBody>
      </p:sp>
      <p:sp>
        <p:nvSpPr>
          <p:cNvPr id="1079659675" name="Rectangle 9"/>
          <p:cNvSpPr/>
          <p:nvPr/>
        </p:nvSpPr>
        <p:spPr bwMode="auto">
          <a:xfrm>
            <a:off x="457200" y="5760720"/>
            <a:ext cx="11247120" cy="640080"/>
          </a:xfrm>
          <a:prstGeom prst="rect">
            <a:avLst/>
          </a:prstGeom>
          <a:solidFill>
            <a:srgbClr val="D93025"/>
          </a:solidFill>
          <a:ln w="63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045573" name="TextBox 10"/>
          <p:cNvSpPr txBox="1"/>
          <p:nvPr/>
        </p:nvSpPr>
        <p:spPr bwMode="auto"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Hard finding: the 0.85 threshold misses ~42% of anomaly events. Documented; not a deployable claim.</a:t>
            </a:r>
            <a:endParaRPr/>
          </a:p>
        </p:txBody>
      </p:sp>
      <p:sp>
        <p:nvSpPr>
          <p:cNvPr id="1133584015" name="TextBox 11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221315943" name="TextBox 12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8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246188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7. Professional Relevance and Next Steps  ·  ~1.5 min</a:t>
            </a:r>
            <a:endParaRPr/>
          </a:p>
        </p:txBody>
      </p:sp>
      <p:sp>
        <p:nvSpPr>
          <p:cNvPr id="1278581807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What this shows about the work, and what's next</a:t>
            </a:r>
            <a:endParaRPr/>
          </a:p>
        </p:txBody>
      </p:sp>
      <p:sp>
        <p:nvSpPr>
          <p:cNvPr id="1584862905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System-level thinking · responsible engineering · reuse with discipline</a:t>
            </a:r>
            <a:endParaRPr/>
          </a:p>
        </p:txBody>
      </p:sp>
      <p:sp>
        <p:nvSpPr>
          <p:cNvPr id="881016325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5763549" name="TextBox 5"/>
          <p:cNvSpPr txBox="1"/>
          <p:nvPr/>
        </p:nvSpPr>
        <p:spPr bwMode="auto"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What this demonstrates</a:t>
            </a:r>
            <a:endParaRPr/>
          </a:p>
        </p:txBody>
      </p:sp>
      <p:sp>
        <p:nvSpPr>
          <p:cNvPr id="2147264726" name="TextBox 6"/>
          <p:cNvSpPr txBox="1"/>
          <p:nvPr/>
        </p:nvSpPr>
        <p:spPr bwMode="auto"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System-level thinking: five prior projects compose into one pipeline, not a collection of notebooks.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Responsible engineering under constraints: free-tier model + 5-doc KB + 0 dollars → category routing, citation guard, arg filtering.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Reuse with discipline: the governance spine is lifted, fixed, de-labeled, and guarded by a no-domain-imports test.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Defensible defaults: every metric in this deck is asserted in a test, not asserted in prose.</a:t>
            </a:r>
            <a:endParaRPr/>
          </a:p>
        </p:txBody>
      </p:sp>
      <p:sp>
        <p:nvSpPr>
          <p:cNvPr id="1960003529" name="TextBox 7"/>
          <p:cNvSpPr txBox="1"/>
          <p:nvPr/>
        </p:nvSpPr>
        <p:spPr bwMode="auto"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Next steps (12-18 months)</a:t>
            </a:r>
            <a:endParaRPr/>
          </a:p>
        </p:txBody>
      </p:sp>
      <p:sp>
        <p:nvSpPr>
          <p:cNvPr id="1955531499" name="TextBox 8"/>
          <p:cNvSpPr txBox="1"/>
          <p:nvPr/>
        </p:nvSpPr>
        <p:spPr bwMode="auto">
          <a:xfrm>
            <a:off x="6309360" y="192024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Address the 58% recall finding: lower the threshold or add a complementary low-confidence rule.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Multi-vendor event-stream connectors (P1's corpus is synthetic, not a real environment).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Retrieval-level eval: a 10-row golden set + hit@k, before any model swap.</a:t>
            </a:r>
            <a:endParaRPr/>
          </a:p>
          <a:p>
            <a:pPr>
              <a:lnSpc>
                <a:spcPct val="114999"/>
              </a:lnSpc>
              <a:spcAft>
                <a:spcPts val="400"/>
              </a:spcAft>
              <a:defRPr/>
            </a:pPr>
            <a:r>
              <a:rPr sz="1400" b="0" i="0">
                <a:solidFill>
                  <a:srgbClr val="1A1A1A"/>
                </a:solidFill>
                <a:latin typeface="Segoe UI"/>
              </a:rPr>
              <a:t>•  Real auth for the Streamlit GUI: reverse proxy + OAuth; the GUI is local-only today.</a:t>
            </a:r>
            <a:endParaRPr/>
          </a:p>
        </p:txBody>
      </p:sp>
      <p:sp>
        <p:nvSpPr>
          <p:cNvPr id="1309668723" name="TextBox 9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978257332" name="TextBox 10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9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025291" name="TextBox 1"/>
          <p:cNvSpPr txBox="1"/>
          <p:nvPr/>
        </p:nvSpPr>
        <p:spPr bwMode="auto">
          <a:xfrm>
            <a:off x="457200" y="9144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1">
                <a:solidFill>
                  <a:srgbClr val="555555"/>
                </a:solidFill>
                <a:latin typeface="Segoe UI"/>
              </a:rPr>
              <a:t>Defense  ·  questions I'm ready for</a:t>
            </a:r>
            <a:endParaRPr/>
          </a:p>
        </p:txBody>
      </p:sp>
      <p:sp>
        <p:nvSpPr>
          <p:cNvPr id="1501334107" name="TextBox 2"/>
          <p:cNvSpPr txBox="1"/>
          <p:nvPr/>
        </p:nvSpPr>
        <p:spPr bwMode="auto"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800" b="1" i="0">
                <a:solidFill>
                  <a:srgbClr val="0B3D91"/>
                </a:solidFill>
                <a:latin typeface="Segoe UI"/>
              </a:rPr>
              <a:t>Three questions I expect — and the short answer</a:t>
            </a:r>
            <a:endParaRPr/>
          </a:p>
        </p:txBody>
      </p:sp>
      <p:sp>
        <p:nvSpPr>
          <p:cNvPr id="1735059274" name="TextBox 3"/>
          <p:cNvSpPr txBox="1"/>
          <p:nvPr/>
        </p:nvSpPr>
        <p:spPr bwMode="auto"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0" i="1">
                <a:solidFill>
                  <a:srgbClr val="555555"/>
                </a:solidFill>
                <a:latin typeface="Segoe UI"/>
              </a:rPr>
              <a:t>If you only have 30 seconds for each, here they are</a:t>
            </a:r>
            <a:endParaRPr/>
          </a:p>
        </p:txBody>
      </p:sp>
      <p:sp>
        <p:nvSpPr>
          <p:cNvPr id="1404975094" name="Rectangle 4"/>
          <p:cNvSpPr/>
          <p:nvPr/>
        </p:nvSpPr>
        <p:spPr bwMode="auto">
          <a:xfrm>
            <a:off x="457200" y="1325880"/>
            <a:ext cx="11247120" cy="9525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3946393" name="Rectangle 5"/>
          <p:cNvSpPr/>
          <p:nvPr/>
        </p:nvSpPr>
        <p:spPr bwMode="auto">
          <a:xfrm>
            <a:off x="457200" y="1645920"/>
            <a:ext cx="11247120" cy="1371600"/>
          </a:xfrm>
          <a:prstGeom prst="rect">
            <a:avLst/>
          </a:prstGeom>
          <a:solidFill>
            <a:srgbClr val="F3F5F8"/>
          </a:solidFill>
          <a:ln w="9525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443328" name="TextBox 6"/>
          <p:cNvSpPr txBox="1"/>
          <p:nvPr/>
        </p:nvSpPr>
        <p:spPr bwMode="auto">
          <a:xfrm>
            <a:off x="640080" y="17556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Q.  Why rules-first, not an ML scorer?</a:t>
            </a:r>
            <a:endParaRPr/>
          </a:p>
        </p:txBody>
      </p:sp>
      <p:sp>
        <p:nvSpPr>
          <p:cNvPr id="1316725014" name="TextBox 7"/>
          <p:cNvSpPr txBox="1"/>
          <p:nvPr/>
        </p:nvSpPr>
        <p:spPr bwMode="auto"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A.  Auditability. Every incident carries the firing rule. The ML scorer is a swap-in behind the same `risk_scorer.py` interface when the rule layer earns its keep — and the P2 calibration test confirms the cost honestly.</a:t>
            </a:r>
            <a:endParaRPr/>
          </a:p>
        </p:txBody>
      </p:sp>
      <p:sp>
        <p:nvSpPr>
          <p:cNvPr id="117613470" name="Rectangle 8"/>
          <p:cNvSpPr/>
          <p:nvPr/>
        </p:nvSpPr>
        <p:spPr bwMode="auto">
          <a:xfrm>
            <a:off x="457200" y="3127248"/>
            <a:ext cx="11247120" cy="1371600"/>
          </a:xfrm>
          <a:prstGeom prst="rect">
            <a:avLst/>
          </a:prstGeom>
          <a:solidFill>
            <a:srgbClr val="F3F5F8"/>
          </a:solidFill>
          <a:ln w="9525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4816547" name="TextBox 9"/>
          <p:cNvSpPr txBox="1"/>
          <p:nvPr/>
        </p:nvSpPr>
        <p:spPr bwMode="auto">
          <a:xfrm>
            <a:off x="640080" y="3236976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Q.  What would break in production?</a:t>
            </a:r>
            <a:endParaRPr/>
          </a:p>
        </p:txBody>
      </p:sp>
      <p:sp>
        <p:nvSpPr>
          <p:cNvPr id="1825857684" name="TextBox 10"/>
          <p:cNvSpPr txBox="1"/>
          <p:nvPr/>
        </p:nvSpPr>
        <p:spPr bwMode="auto">
          <a:xfrm>
            <a:off x="640080" y="36301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A.  The Streamlit GUI has no auth (it's a dev tool); the audit chain has an unrepaired early break; the fusion threshold misses ~42% of anomaly events. Each is a known and tested boundary, not a hidden risk.</a:t>
            </a:r>
            <a:endParaRPr/>
          </a:p>
        </p:txBody>
      </p:sp>
      <p:sp>
        <p:nvSpPr>
          <p:cNvPr id="565451691" name="Rectangle 11"/>
          <p:cNvSpPr/>
          <p:nvPr/>
        </p:nvSpPr>
        <p:spPr bwMode="auto">
          <a:xfrm>
            <a:off x="457200" y="4608576"/>
            <a:ext cx="11247120" cy="1371600"/>
          </a:xfrm>
          <a:prstGeom prst="rect">
            <a:avLst/>
          </a:prstGeom>
          <a:solidFill>
            <a:srgbClr val="F3F5F8"/>
          </a:solidFill>
          <a:ln w="9525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8946424" name="TextBox 12"/>
          <p:cNvSpPr txBox="1"/>
          <p:nvPr/>
        </p:nvSpPr>
        <p:spPr bwMode="auto">
          <a:xfrm>
            <a:off x="640080" y="471830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0B3D91"/>
                </a:solidFill>
                <a:latin typeface="Segoe UI"/>
              </a:rPr>
              <a:t>Q.  Why is your RAG just dense + MMR, not hybrid?</a:t>
            </a:r>
            <a:endParaRPr/>
          </a:p>
        </p:txBody>
      </p:sp>
      <p:sp>
        <p:nvSpPr>
          <p:cNvPr id="1182071396" name="TextBox 13"/>
          <p:cNvSpPr txBox="1"/>
          <p:nvPr/>
        </p:nvSpPr>
        <p:spPr bwMode="auto">
          <a:xfrm>
            <a:off x="640080" y="5111496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1A1A1A"/>
                </a:solidFill>
                <a:latin typeface="Segoe UI"/>
              </a:rPr>
              <a:t>A.  The KB is 5 documents. BM25, a cross-encoder, and a query-rewrite LLM are the right next step when the KB grows past a few hundred docs, not today. Category routing fixes the shared-vocabulary mis-ranking cheaply at this scale.</a:t>
            </a:r>
            <a:endParaRPr/>
          </a:p>
        </p:txBody>
      </p:sp>
      <p:sp>
        <p:nvSpPr>
          <p:cNvPr id="886639591" name="TextBox 14"/>
          <p:cNvSpPr txBox="1"/>
          <p:nvPr/>
        </p:nvSpPr>
        <p:spPr bwMode="auto"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400" b="0" i="1">
                <a:solidFill>
                  <a:srgbClr val="0B3D91"/>
                </a:solidFill>
                <a:latin typeface="Segoe UI"/>
              </a:rPr>
              <a:t>The copilot doesn't replace the operator. It replaces the part of the shift that's a typist, a log-stitcher, and a 3 a.m. paragraph-writer.</a:t>
            </a:r>
            <a:endParaRPr/>
          </a:p>
        </p:txBody>
      </p:sp>
      <p:sp>
        <p:nvSpPr>
          <p:cNvPr id="1967912910" name="TextBox 15"/>
          <p:cNvSpPr txBox="1"/>
          <p:nvPr/>
        </p:nvSpPr>
        <p:spPr bwMode="auto"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Project 7 — SOC Security Operations Copilot  —  Soliman</a:t>
            </a:r>
            <a:endParaRPr/>
          </a:p>
        </p:txBody>
      </p:sp>
      <p:sp>
        <p:nvSpPr>
          <p:cNvPr id="1745852593" name="TextBox 16"/>
          <p:cNvSpPr txBox="1"/>
          <p:nvPr/>
        </p:nvSpPr>
        <p:spPr bwMode="auto"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55555"/>
                </a:solidFill>
                <a:latin typeface="Segoe UI"/>
              </a:rPr>
              <a:t>10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2026-07-17T20:14:06Z</dcterms:modified>
  <cp:category/>
</cp:coreProperties>
</file>