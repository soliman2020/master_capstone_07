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90275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29526516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027769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6795748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74256695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741618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1622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75049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6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D3CAD0-6F4A-42F1-EE85-7B3421D4641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2219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2962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676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D342D1-0962-DBA7-FF3F-39C28158FD0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565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1921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2485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3DD6D5-8204-1A1D-FCE4-A965A93C1D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0655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166095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3263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DA4091-DF43-8D2D-B2A7-ADAD0ED028D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67001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7355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299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16CB39-9AF8-CF6B-0684-30D1617FD1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4826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92144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1711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41969F-5825-566F-0182-814C91D419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70997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18277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489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50E656-AC5B-6385-12B9-41A01FEAFD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727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34562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2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D4FC5F-66AD-327E-3205-ED17A3EAE9A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8900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9768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8092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19FB6-C959-90D0-EA10-88E3DC6FEFE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0911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67138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007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D20308-5E36-FB1F-F988-2ED277ADDA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12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95256845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717616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7951770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59756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2177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241250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341906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7036859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27532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4321082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56822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6534254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906956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56873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0109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985923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7726873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878430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723500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83067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550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31244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041889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95723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4066569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2619376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2789531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627010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6118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145899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329854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6978080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9132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9904405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965380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40543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73787604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016065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21944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2812307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69234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7066317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142136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98871046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026805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1780943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037695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29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9869667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106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528424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76058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91666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7725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110016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201444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712983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23197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178143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982104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818316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378171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6610427" name="Rectangle 1"/>
          <p:cNvSpPr/>
          <p:nvPr/>
        </p:nvSpPr>
        <p:spPr bwMode="auto">
          <a:xfrm>
            <a:off x="0" y="0"/>
            <a:ext cx="36576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4822584" name="TextBox 2"/>
          <p:cNvSpPr txBox="1"/>
          <p:nvPr/>
        </p:nvSpPr>
        <p:spPr bwMode="auto">
          <a:xfrm>
            <a:off x="914400" y="18288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Industry-Integrated AI Synthesis — Project 7</a:t>
            </a:r>
            <a:endParaRPr/>
          </a:p>
        </p:txBody>
      </p:sp>
      <p:sp>
        <p:nvSpPr>
          <p:cNvPr id="194441985" name="TextBox 3"/>
          <p:cNvSpPr txBox="1"/>
          <p:nvPr/>
        </p:nvSpPr>
        <p:spPr bwMode="auto">
          <a:xfrm>
            <a:off x="914400" y="22860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4000" b="1" i="0">
                <a:solidFill>
                  <a:srgbClr val="0B3D91"/>
                </a:solidFill>
                <a:latin typeface="Segoe UI"/>
              </a:rPr>
              <a:t>SOC Security Operations Copilot</a:t>
            </a:r>
            <a:endParaRPr/>
          </a:p>
        </p:txBody>
      </p:sp>
      <p:sp>
        <p:nvSpPr>
          <p:cNvPr id="1390185141" name="TextBox 4"/>
          <p:cNvSpPr txBox="1"/>
          <p:nvPr/>
        </p:nvSpPr>
        <p:spPr bwMode="auto">
          <a:xfrm>
            <a:off x="914400" y="3566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800" b="0" i="0">
                <a:solidFill>
                  <a:srgbClr val="1A1A1A"/>
                </a:solidFill>
                <a:latin typeface="Segoe UI"/>
              </a:rPr>
              <a:t>Mentor Defense — 15 minutes</a:t>
            </a:r>
            <a:endParaRPr/>
          </a:p>
        </p:txBody>
      </p:sp>
      <p:sp>
        <p:nvSpPr>
          <p:cNvPr id="1749218667" name="TextBox 5"/>
          <p:cNvSpPr txBox="1"/>
          <p:nvPr/>
        </p:nvSpPr>
        <p:spPr bwMode="auto">
          <a:xfrm>
            <a:off x="914400" y="4114800"/>
            <a:ext cx="10518479" cy="2137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0">
                <a:solidFill>
                  <a:srgbClr val="555555"/>
                </a:solidFill>
                <a:latin typeface="Segoe UI"/>
              </a:rPr>
              <a:t>Mohamed Soliman  ·  Final synthesis capstone, Udacity AI Mastery</a:t>
            </a:r>
            <a:endParaRPr/>
          </a:p>
        </p:txBody>
      </p:sp>
      <p:sp>
        <p:nvSpPr>
          <p:cNvPr id="1462244308" name="Rectangle 6"/>
          <p:cNvSpPr/>
          <p:nvPr/>
        </p:nvSpPr>
        <p:spPr bwMode="auto">
          <a:xfrm>
            <a:off x="914400" y="5120640"/>
            <a:ext cx="10332720" cy="1097280"/>
          </a:xfrm>
          <a:prstGeom prst="rect">
            <a:avLst/>
          </a:prstGeom>
          <a:solidFill>
            <a:srgbClr val="E8F0FE"/>
          </a:solidFill>
          <a:ln w="1270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806990" name="TextBox 7"/>
          <p:cNvSpPr txBox="1"/>
          <p:nvPr/>
        </p:nvSpPr>
        <p:spPr bwMode="auto">
          <a:xfrm>
            <a:off x="1097280" y="525780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1A1A1A"/>
                </a:solidFill>
                <a:latin typeface="Segoe UI"/>
              </a:rPr>
              <a:t>Rules-first fusion  +  RAG-grounded summarization  +  non-bypassable human-approval gate.</a:t>
            </a:r>
            <a:endParaRPr/>
          </a:p>
          <a:p>
            <a:pPr>
              <a:defRPr/>
            </a:pPr>
            <a:r>
              <a:rPr sz="1400" b="0" i="1">
                <a:solidFill>
                  <a:srgbClr val="1A1A1A"/>
                </a:solidFill>
                <a:latin typeface="Segoe UI"/>
              </a:rPr>
              <a:t>Built on P1's real corpus, P2's calibration, P3's rules discipline, P5's prose genre, and P6's governance spine.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209379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1. Industry Context and Problem Definition  ·  ~1.5 min</a:t>
            </a:r>
            <a:endParaRPr/>
          </a:p>
        </p:txBody>
      </p:sp>
      <p:sp>
        <p:nvSpPr>
          <p:cNvPr id="836275626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Security operations is a 3 a.m. paragraph-writing job</a:t>
            </a:r>
            <a:endParaRPr/>
          </a:p>
        </p:txBody>
      </p:sp>
      <p:sp>
        <p:nvSpPr>
          <p:cNvPr id="1674858403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Why this problem matters, and why AI is the right tool</a:t>
            </a:r>
            <a:endParaRPr/>
          </a:p>
        </p:txBody>
      </p:sp>
      <p:sp>
        <p:nvSpPr>
          <p:cNvPr id="1491188169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6802459" name="TextBox 5"/>
          <p:cNvSpPr txBox="1"/>
          <p:nvPr/>
        </p:nvSpPr>
        <p:spPr bwMode="auto">
          <a:xfrm>
            <a:off x="457200" y="1554480"/>
            <a:ext cx="56692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500" b="0" i="0">
                <a:solidFill>
                  <a:srgbClr val="1A1A1A"/>
                </a:solidFill>
                <a:latin typeface="Segoe UI"/>
              </a:rPr>
              <a:t>•  Security Operations Centers fuse surveillance feeds, badge-access logs, and alarm streams — thousands of events a day per site.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500" b="0" i="0">
                <a:solidFill>
                  <a:srgbClr val="1A1A1A"/>
                </a:solidFill>
                <a:latin typeface="Segoe UI"/>
              </a:rPr>
              <a:t>•  The hard task is cross-screen correlation: a single incident (e.g. tailgate + forced door) is invisible to either screen alone.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500" b="0" i="0">
                <a:solidFill>
                  <a:srgbClr val="1A1A1A"/>
                </a:solidFill>
                <a:latin typeface="Segoe UI"/>
              </a:rPr>
              <a:t>•  The 3 a.m. operator is the closer: they read the fused signal, match it to policy, write the analyst-facing paragraph, and decide whether to dispatch security.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500" b="0" i="0">
                <a:solidFill>
                  <a:srgbClr val="1A1A1A"/>
                </a:solidFill>
                <a:latin typeface="Segoe UI"/>
              </a:rPr>
              <a:t>•  Today's tools give them raw streams. The job of paragraph-writing and policy-matching is what's automatable; the call is not.</a:t>
            </a:r>
            <a:endParaRPr/>
          </a:p>
        </p:txBody>
      </p:sp>
      <p:sp>
        <p:nvSpPr>
          <p:cNvPr id="739198386" name="Rectangle 6"/>
          <p:cNvSpPr/>
          <p:nvPr/>
        </p:nvSpPr>
        <p:spPr bwMode="auto">
          <a:xfrm>
            <a:off x="6400800" y="1554480"/>
            <a:ext cx="5303520" cy="41148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3947886" name="TextBox 7"/>
          <p:cNvSpPr txBox="1"/>
          <p:nvPr/>
        </p:nvSpPr>
        <p:spPr bwMode="auto">
          <a:xfrm>
            <a:off x="6583680" y="16916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1" i="0">
                <a:solidFill>
                  <a:srgbClr val="0B3D91"/>
                </a:solidFill>
                <a:latin typeface="Segoe UI"/>
              </a:rPr>
              <a:t>Why an AI approach fits</a:t>
            </a:r>
            <a:endParaRPr/>
          </a:p>
        </p:txBody>
      </p:sp>
      <p:sp>
        <p:nvSpPr>
          <p:cNvPr id="1076393900" name="TextBox 8"/>
          <p:cNvSpPr txBox="1"/>
          <p:nvPr/>
        </p:nvSpPr>
        <p:spPr bwMode="auto">
          <a:xfrm>
            <a:off x="6583680" y="2057400"/>
            <a:ext cx="5029200" cy="3520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Signal fusion is exactly what rules + retrieval do well: deterministic correlation across streams, policy-grounded output.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Generative summarization with citations is the paragraph-writing piece the operator shouldn't be doing at 3 a.m.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Human-in-the-loop is the right trust model for irreversible actions: the system recommends, the operator decides.</a:t>
            </a:r>
            <a:endParaRPr/>
          </a:p>
        </p:txBody>
      </p:sp>
      <p:sp>
        <p:nvSpPr>
          <p:cNvPr id="211684969" name="TextBox 9"/>
          <p:cNvSpPr txBox="1"/>
          <p:nvPr/>
        </p:nvSpPr>
        <p:spPr bwMode="auto">
          <a:xfrm>
            <a:off x="457200" y="6446520"/>
            <a:ext cx="7318079" cy="137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Project 7 — SOC Security Operations Copilot  —  Mohamed Soliman</a:t>
            </a:r>
            <a:endParaRPr/>
          </a:p>
        </p:txBody>
      </p:sp>
      <p:sp>
        <p:nvSpPr>
          <p:cNvPr id="1636652382" name="TextBox 10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2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390667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2. Integrated AI System Overview  ·  ~1.5 min</a:t>
            </a:r>
            <a:endParaRPr/>
          </a:p>
        </p:txBody>
      </p:sp>
      <p:sp>
        <p:nvSpPr>
          <p:cNvPr id="795412939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Five subsystems compose one end-to-end pipeline</a:t>
            </a:r>
            <a:endParaRPr/>
          </a:p>
        </p:txBody>
      </p:sp>
      <p:sp>
        <p:nvSpPr>
          <p:cNvPr id="1062044338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Each layer is small, swappable, and tested</a:t>
            </a:r>
            <a:endParaRPr/>
          </a:p>
        </p:txBody>
      </p:sp>
      <p:sp>
        <p:nvSpPr>
          <p:cNvPr id="569281559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7093956" name="Rectangle 5"/>
          <p:cNvSpPr/>
          <p:nvPr/>
        </p:nvSpPr>
        <p:spPr bwMode="auto">
          <a:xfrm>
            <a:off x="472287" y="1828800"/>
            <a:ext cx="2103120" cy="1554480"/>
          </a:xfrm>
          <a:prstGeom prst="rect">
            <a:avLst/>
          </a:prstGeom>
          <a:solidFill>
            <a:srgbClr val="E8F0FE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9025027" name="TextBox 6"/>
          <p:cNvSpPr txBox="1"/>
          <p:nvPr/>
        </p:nvSpPr>
        <p:spPr bwMode="auto">
          <a:xfrm>
            <a:off x="472287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Generators</a:t>
            </a:r>
            <a:endParaRPr/>
          </a:p>
        </p:txBody>
      </p:sp>
      <p:sp>
        <p:nvSpPr>
          <p:cNvPr id="1827734335" name="TextBox 7"/>
          <p:cNvSpPr txBox="1"/>
          <p:nvPr/>
        </p:nvSpPr>
        <p:spPr bwMode="auto">
          <a:xfrm>
            <a:off x="563727" y="2377440"/>
            <a:ext cx="1920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P1 corpus →</a:t>
            </a:r>
            <a:endParaRPr/>
          </a:p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1k events + 9.7k logs</a:t>
            </a:r>
            <a:endParaRPr/>
          </a:p>
        </p:txBody>
      </p:sp>
      <p:sp>
        <p:nvSpPr>
          <p:cNvPr id="896238531" name="TextBox 8"/>
          <p:cNvSpPr txBox="1"/>
          <p:nvPr/>
        </p:nvSpPr>
        <p:spPr bwMode="auto">
          <a:xfrm>
            <a:off x="2575407" y="2377440"/>
            <a:ext cx="182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0B3D91"/>
                </a:solidFill>
                <a:latin typeface="Segoe UI"/>
              </a:rPr>
              <a:t>→</a:t>
            </a:r>
            <a:endParaRPr/>
          </a:p>
        </p:txBody>
      </p:sp>
      <p:sp>
        <p:nvSpPr>
          <p:cNvPr id="1001626546" name="Rectangle 9"/>
          <p:cNvSpPr/>
          <p:nvPr/>
        </p:nvSpPr>
        <p:spPr bwMode="auto">
          <a:xfrm>
            <a:off x="2758287" y="1828800"/>
            <a:ext cx="2103120" cy="1554480"/>
          </a:xfrm>
          <a:prstGeom prst="rect">
            <a:avLst/>
          </a:prstGeom>
          <a:solidFill>
            <a:srgbClr val="E8F0FE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6247455" name="TextBox 10"/>
          <p:cNvSpPr txBox="1"/>
          <p:nvPr/>
        </p:nvSpPr>
        <p:spPr bwMode="auto">
          <a:xfrm>
            <a:off x="2758287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Fusion</a:t>
            </a:r>
            <a:endParaRPr/>
          </a:p>
        </p:txBody>
      </p:sp>
      <p:sp>
        <p:nvSpPr>
          <p:cNvPr id="1944464620" name="TextBox 11"/>
          <p:cNvSpPr txBox="1"/>
          <p:nvPr/>
        </p:nvSpPr>
        <p:spPr bwMode="auto">
          <a:xfrm>
            <a:off x="2849727" y="2377440"/>
            <a:ext cx="1920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4 rules →</a:t>
            </a:r>
            <a:endParaRPr/>
          </a:p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226 risk-scored incidents</a:t>
            </a:r>
            <a:endParaRPr/>
          </a:p>
        </p:txBody>
      </p:sp>
      <p:sp>
        <p:nvSpPr>
          <p:cNvPr id="2016878703" name="TextBox 12"/>
          <p:cNvSpPr txBox="1"/>
          <p:nvPr/>
        </p:nvSpPr>
        <p:spPr bwMode="auto">
          <a:xfrm>
            <a:off x="4861407" y="2377440"/>
            <a:ext cx="182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0B3D91"/>
                </a:solidFill>
                <a:latin typeface="Segoe UI"/>
              </a:rPr>
              <a:t>→</a:t>
            </a:r>
            <a:endParaRPr/>
          </a:p>
        </p:txBody>
      </p:sp>
      <p:sp>
        <p:nvSpPr>
          <p:cNvPr id="2074487432" name="Rectangle 13"/>
          <p:cNvSpPr/>
          <p:nvPr/>
        </p:nvSpPr>
        <p:spPr bwMode="auto">
          <a:xfrm>
            <a:off x="5044287" y="1828800"/>
            <a:ext cx="2103120" cy="1554480"/>
          </a:xfrm>
          <a:prstGeom prst="rect">
            <a:avLst/>
          </a:prstGeom>
          <a:solidFill>
            <a:srgbClr val="E8F0FE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0719023" name="TextBox 14"/>
          <p:cNvSpPr txBox="1"/>
          <p:nvPr/>
        </p:nvSpPr>
        <p:spPr bwMode="auto">
          <a:xfrm>
            <a:off x="5044287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RAG</a:t>
            </a:r>
            <a:endParaRPr/>
          </a:p>
        </p:txBody>
      </p:sp>
      <p:sp>
        <p:nvSpPr>
          <p:cNvPr id="1745321799" name="TextBox 15"/>
          <p:cNvSpPr txBox="1"/>
          <p:nvPr/>
        </p:nvSpPr>
        <p:spPr bwMode="auto">
          <a:xfrm>
            <a:off x="5135727" y="2377440"/>
            <a:ext cx="1920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Chroma + MiniLM</a:t>
            </a:r>
            <a:endParaRPr/>
          </a:p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+ category routing</a:t>
            </a:r>
            <a:endParaRPr/>
          </a:p>
        </p:txBody>
      </p:sp>
      <p:sp>
        <p:nvSpPr>
          <p:cNvPr id="348347356" name="TextBox 16"/>
          <p:cNvSpPr txBox="1"/>
          <p:nvPr/>
        </p:nvSpPr>
        <p:spPr bwMode="auto">
          <a:xfrm>
            <a:off x="7147407" y="2377440"/>
            <a:ext cx="182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0B3D91"/>
                </a:solidFill>
                <a:latin typeface="Segoe UI"/>
              </a:rPr>
              <a:t>→</a:t>
            </a:r>
            <a:endParaRPr/>
          </a:p>
        </p:txBody>
      </p:sp>
      <p:sp>
        <p:nvSpPr>
          <p:cNvPr id="1863297148" name="Rectangle 17"/>
          <p:cNvSpPr/>
          <p:nvPr/>
        </p:nvSpPr>
        <p:spPr bwMode="auto">
          <a:xfrm>
            <a:off x="7330287" y="1828800"/>
            <a:ext cx="2103120" cy="1554480"/>
          </a:xfrm>
          <a:prstGeom prst="rect">
            <a:avLst/>
          </a:prstGeom>
          <a:solidFill>
            <a:srgbClr val="E8F0FE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7523318" name="TextBox 18"/>
          <p:cNvSpPr txBox="1"/>
          <p:nvPr/>
        </p:nvSpPr>
        <p:spPr bwMode="auto">
          <a:xfrm>
            <a:off x="7330287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Summarizer</a:t>
            </a:r>
            <a:endParaRPr/>
          </a:p>
        </p:txBody>
      </p:sp>
      <p:sp>
        <p:nvSpPr>
          <p:cNvPr id="398128658" name="TextBox 19"/>
          <p:cNvSpPr txBox="1"/>
          <p:nvPr/>
        </p:nvSpPr>
        <p:spPr bwMode="auto">
          <a:xfrm>
            <a:off x="7421727" y="2377440"/>
            <a:ext cx="1920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Groq 8B +</a:t>
            </a:r>
            <a:endParaRPr/>
          </a:p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citation guard</a:t>
            </a:r>
            <a:endParaRPr/>
          </a:p>
        </p:txBody>
      </p:sp>
      <p:sp>
        <p:nvSpPr>
          <p:cNvPr id="1493393894" name="TextBox 20"/>
          <p:cNvSpPr txBox="1"/>
          <p:nvPr/>
        </p:nvSpPr>
        <p:spPr bwMode="auto">
          <a:xfrm>
            <a:off x="9433407" y="2377440"/>
            <a:ext cx="182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2000" b="1" i="0">
                <a:solidFill>
                  <a:srgbClr val="0B3D91"/>
                </a:solidFill>
                <a:latin typeface="Segoe UI"/>
              </a:rPr>
              <a:t>→</a:t>
            </a:r>
            <a:endParaRPr/>
          </a:p>
        </p:txBody>
      </p:sp>
      <p:sp>
        <p:nvSpPr>
          <p:cNvPr id="2052777542" name="Rectangle 21"/>
          <p:cNvSpPr/>
          <p:nvPr/>
        </p:nvSpPr>
        <p:spPr bwMode="auto">
          <a:xfrm>
            <a:off x="9616287" y="1828800"/>
            <a:ext cx="2103120" cy="1554480"/>
          </a:xfrm>
          <a:prstGeom prst="rect">
            <a:avLst/>
          </a:prstGeom>
          <a:solidFill>
            <a:srgbClr val="E8F0FE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0303214" name="TextBox 22"/>
          <p:cNvSpPr txBox="1"/>
          <p:nvPr/>
        </p:nvSpPr>
        <p:spPr bwMode="auto">
          <a:xfrm>
            <a:off x="9616287" y="196596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Agent</a:t>
            </a:r>
            <a:endParaRPr/>
          </a:p>
        </p:txBody>
      </p:sp>
      <p:sp>
        <p:nvSpPr>
          <p:cNvPr id="1153372957" name="TextBox 23"/>
          <p:cNvSpPr txBox="1"/>
          <p:nvPr/>
        </p:nvSpPr>
        <p:spPr bwMode="auto">
          <a:xfrm>
            <a:off x="9707727" y="2377440"/>
            <a:ext cx="1920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LangGraph +</a:t>
            </a:r>
            <a:endParaRPr/>
          </a:p>
          <a:p>
            <a:pPr algn="ctr"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human-approval gate</a:t>
            </a:r>
            <a:endParaRPr/>
          </a:p>
        </p:txBody>
      </p:sp>
      <p:sp>
        <p:nvSpPr>
          <p:cNvPr id="1058459125" name="TextBox 24"/>
          <p:cNvSpPr txBox="1"/>
          <p:nvPr/>
        </p:nvSpPr>
        <p:spPr bwMode="auto">
          <a:xfrm>
            <a:off x="457200" y="3931920"/>
            <a:ext cx="112471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Composes 5 prior projects into one cohesive system — not a collection of disconnected notebooks.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Each layer has a single responsibility and a small, named test (rules, retrieval, summarizer, governance gate, audit chain).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Same `run_incident_streaming` entry point for CLI, notebook, pytest, and the Streamlit GUI — no parallel API surfaces.</a:t>
            </a:r>
            <a:endParaRPr/>
          </a:p>
        </p:txBody>
      </p:sp>
      <p:sp>
        <p:nvSpPr>
          <p:cNvPr id="1112448900" name="TextBox 25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298881740" name="TextBox 26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3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422842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2. Integrated AI System Overview  ·  continued</a:t>
            </a:r>
            <a:endParaRPr/>
          </a:p>
        </p:txBody>
      </p:sp>
      <p:sp>
        <p:nvSpPr>
          <p:cNvPr id="598299797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The LangGraph governance topology</a:t>
            </a:r>
            <a:endParaRPr/>
          </a:p>
        </p:txBody>
      </p:sp>
      <p:sp>
        <p:nvSpPr>
          <p:cNvPr id="1739538756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Compiled view of the agent the rubric submission notebook runs</a:t>
            </a:r>
            <a:endParaRPr/>
          </a:p>
        </p:txBody>
      </p:sp>
      <p:sp>
        <p:nvSpPr>
          <p:cNvPr id="1422649283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22281863" name="Picture 5" descr="agent_graph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64105" y="1923676"/>
            <a:ext cx="2593776" cy="3570343"/>
          </a:xfrm>
          <a:prstGeom prst="rect">
            <a:avLst/>
          </a:prstGeom>
        </p:spPr>
      </p:pic>
      <p:sp>
        <p:nvSpPr>
          <p:cNvPr id="852926271" name="TextBox 6"/>
          <p:cNvSpPr txBox="1"/>
          <p:nvPr/>
        </p:nvSpPr>
        <p:spPr bwMode="auto"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100" b="0" i="0">
                <a:solidFill>
                  <a:srgbClr val="1A1A1A"/>
                </a:solidFill>
                <a:latin typeface="Segoe UI"/>
              </a:rPr>
              <a:t>•  ingest → planner → worker → reviewer → {worker_dispatch · human_approval · summarizer}; reviewer is the only policy gate in the system.</a:t>
            </a:r>
            <a:endParaRPr/>
          </a:p>
        </p:txBody>
      </p:sp>
      <p:sp>
        <p:nvSpPr>
          <p:cNvPr id="81217923" name="TextBox 7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727664382" name="TextBox 8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4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748807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3. Integration of Prior Capstone Projects  ·  ~1.5 min</a:t>
            </a:r>
            <a:endParaRPr/>
          </a:p>
        </p:txBody>
      </p:sp>
      <p:sp>
        <p:nvSpPr>
          <p:cNvPr id="1820234055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Five prior projects, one system</a:t>
            </a:r>
            <a:endParaRPr/>
          </a:p>
        </p:txBody>
      </p:sp>
      <p:sp>
        <p:nvSpPr>
          <p:cNvPr id="998136728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P1 data · P2 calibration · P3 rules · P5 prose · P6 governance</a:t>
            </a:r>
            <a:endParaRPr/>
          </a:p>
        </p:txBody>
      </p:sp>
      <p:sp>
        <p:nvSpPr>
          <p:cNvPr id="819114802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graphicFrame>
        <p:nvGraphicFramePr>
          <p:cNvPr id="15989634" name="Table 5"/>
          <p:cNvGraphicFramePr>
            <a:graphicFrameLocks xmlns:a="http://schemas.openxmlformats.org/drawingml/2006/main" noGrp="1"/>
          </p:cNvGraphicFramePr>
          <p:nvPr/>
        </p:nvGraphicFramePr>
        <p:xfrm rot="0">
          <a:off x="457200" y="1554480"/>
          <a:ext cx="11247118" cy="438912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11680"/>
                <a:gridCol w="5120639"/>
                <a:gridCol w="4114799"/>
              </a:tblGrid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Project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it contributed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Evidence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P1 — Reproducible workflows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The full corpus the copilot runs on (1k events / 9.7k logs / 3 sites); the schema-adapter that normalizes it.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src/generators/p1_pipeline.py · src/utils/p1_adapter.py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P2 — Statistical analysis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The 0.85 confidence threshold as a *contract*, not a constant. P2's chi-square + t-test are re-run on the slice the copilot runs against.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tests/test_threshold_calibration.py · notebook §2b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P3 — Applied ML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Rules-first discipline + the leakage-audit lesson. The fusion layer is rules-only; any future ML must split by site + contiguous time_window.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src/fusion/rules.py · src/fusion/risk_scorer.py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P5 — Generative AI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Genre reference for analyst-voice prose (NIST SP 800-61 / CSIRT / CERT). The summarizer itself is a citation-grounded LLM call, not the P5 model.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src/agent/summarizer.py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P6 — Agentic AI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The LangGraph governance spine, lifted and adapted (one plan-loop fix). The non-bypassable policy gate hard-blocks `case.close` and gates `incident.escalate`.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src/governance/ · src/domain/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7031893" name="TextBox 6"/>
          <p:cNvSpPr txBox="1"/>
          <p:nvPr/>
        </p:nvSpPr>
        <p:spPr bwMode="auto"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00" b="0" i="1">
                <a:solidFill>
                  <a:srgbClr val="555555"/>
                </a:solidFill>
                <a:latin typeface="Segoe UI"/>
              </a:rPr>
              <a:t>Removing any one of these layers breaks a real capability (fusion, policy routing, grounded summaries, or the non-bypassable escalation gate).</a:t>
            </a:r>
            <a:endParaRPr/>
          </a:p>
        </p:txBody>
      </p:sp>
      <p:sp>
        <p:nvSpPr>
          <p:cNvPr id="259541078" name="TextBox 7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223555911" name="TextBox 8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5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863048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4. Key Technical Decisions and Tradeoffs  ·  ~2 min</a:t>
            </a:r>
            <a:endParaRPr/>
          </a:p>
        </p:txBody>
      </p:sp>
      <p:sp>
        <p:nvSpPr>
          <p:cNvPr id="1070385108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Three decisions that shaped the system</a:t>
            </a:r>
            <a:endParaRPr/>
          </a:p>
        </p:txBody>
      </p:sp>
      <p:sp>
        <p:nvSpPr>
          <p:cNvPr id="533030763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Each one is a tradeoff, with the alternative explicit</a:t>
            </a:r>
            <a:endParaRPr/>
          </a:p>
        </p:txBody>
      </p:sp>
      <p:sp>
        <p:nvSpPr>
          <p:cNvPr id="934546212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78169147" name="Rectangle 5"/>
          <p:cNvSpPr/>
          <p:nvPr/>
        </p:nvSpPr>
        <p:spPr bwMode="auto">
          <a:xfrm>
            <a:off x="457200" y="1554480"/>
            <a:ext cx="11247120" cy="1508759"/>
          </a:xfrm>
          <a:prstGeom prst="rect">
            <a:avLst/>
          </a:prstGeom>
          <a:solidFill>
            <a:srgbClr val="E8F0FE"/>
          </a:solidFill>
          <a:ln w="635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5711337" name="TextBox 6"/>
          <p:cNvSpPr txBox="1"/>
          <p:nvPr/>
        </p:nvSpPr>
        <p:spPr bwMode="auto">
          <a:xfrm>
            <a:off x="640080" y="16459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Rules-first fusion, not an ML scorer</a:t>
            </a:r>
            <a:endParaRPr/>
          </a:p>
        </p:txBody>
      </p:sp>
      <p:sp>
        <p:nvSpPr>
          <p:cNvPr id="1585282237" name="TextBox 7"/>
          <p:cNvSpPr txBox="1"/>
          <p:nvPr/>
        </p:nvSpPr>
        <p:spPr bwMode="auto">
          <a:xfrm>
            <a:off x="640080" y="20116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Choice:  Per-rule base + size/confidence bonus, capped at 100, with the firing rule recorded on every incident.</a:t>
            </a:r>
            <a:endParaRPr/>
          </a:p>
        </p:txBody>
      </p:sp>
      <p:sp>
        <p:nvSpPr>
          <p:cNvPr id="363333899" name="TextBox 8"/>
          <p:cNvSpPr txBox="1"/>
          <p:nvPr/>
        </p:nvSpPr>
        <p:spPr bwMode="auto">
          <a:xfrm>
            <a:off x="640080" y="2423160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0" i="1">
                <a:solidFill>
                  <a:srgbClr val="555555"/>
                </a:solidFill>
                <a:latin typeface="Segoe UI"/>
              </a:rPr>
              <a:t>Alternative: a learned scorer. Tradeoff: rules are auditable; an ML scorer would learn patterns the rules miss but be opaque. ML is a swap-in behind the same `risk_scorer.py` interface when the rule layer earns its keep — and P2's calibration test confirms the cost honestly (recall@0.85 = 58%).</a:t>
            </a:r>
            <a:endParaRPr/>
          </a:p>
        </p:txBody>
      </p:sp>
      <p:sp>
        <p:nvSpPr>
          <p:cNvPr id="1694941891" name="Rectangle 9"/>
          <p:cNvSpPr/>
          <p:nvPr/>
        </p:nvSpPr>
        <p:spPr bwMode="auto">
          <a:xfrm>
            <a:off x="457200" y="3182112"/>
            <a:ext cx="11247120" cy="1508759"/>
          </a:xfrm>
          <a:prstGeom prst="rect">
            <a:avLst/>
          </a:prstGeom>
          <a:solidFill>
            <a:srgbClr val="E8F0FE"/>
          </a:solidFill>
          <a:ln w="635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5244629" name="TextBox 10"/>
          <p:cNvSpPr txBox="1"/>
          <p:nvPr/>
        </p:nvSpPr>
        <p:spPr bwMode="auto">
          <a:xfrm>
            <a:off x="640080" y="3273552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Chroma + MiniLM, not a hosted vector DB</a:t>
            </a:r>
            <a:endParaRPr/>
          </a:p>
        </p:txBody>
      </p:sp>
      <p:sp>
        <p:nvSpPr>
          <p:cNvPr id="1714191355" name="TextBox 11"/>
          <p:cNvSpPr txBox="1"/>
          <p:nvPr/>
        </p:nvSpPr>
        <p:spPr bwMode="auto">
          <a:xfrm>
            <a:off x="640080" y="363931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Choice:  5-doc KB, in-process, persistent across runs. 384-dim, normalized cosine. Category routing boosts the matching category by 0.3 before MMR.</a:t>
            </a:r>
            <a:endParaRPr/>
          </a:p>
        </p:txBody>
      </p:sp>
      <p:sp>
        <p:nvSpPr>
          <p:cNvPr id="1634531182" name="TextBox 12"/>
          <p:cNvSpPr txBox="1"/>
          <p:nvPr/>
        </p:nvSpPr>
        <p:spPr bwMode="auto">
          <a:xfrm>
            <a:off x="640080" y="4050792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0" i="1">
                <a:solidFill>
                  <a:srgbClr val="555555"/>
                </a:solidFill>
                <a:latin typeface="Segoe UI"/>
              </a:rPr>
              <a:t>Alternative: a hosted vector DB. Tradeoff: ~3 s model load on first call vs. a monthly bill, an API key, and a network dependency. The KB doesn't pay for BM25 + cross-encoder yet; those are the right next step, not a bigger stack today.</a:t>
            </a:r>
            <a:endParaRPr/>
          </a:p>
        </p:txBody>
      </p:sp>
      <p:sp>
        <p:nvSpPr>
          <p:cNvPr id="999581230" name="Rectangle 13"/>
          <p:cNvSpPr/>
          <p:nvPr/>
        </p:nvSpPr>
        <p:spPr bwMode="auto">
          <a:xfrm>
            <a:off x="457200" y="4809744"/>
            <a:ext cx="11247120" cy="1508759"/>
          </a:xfrm>
          <a:prstGeom prst="rect">
            <a:avLst/>
          </a:prstGeom>
          <a:solidFill>
            <a:srgbClr val="E8F0FE"/>
          </a:solidFill>
          <a:ln w="6350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5342229" name="TextBox 14"/>
          <p:cNvSpPr txBox="1"/>
          <p:nvPr/>
        </p:nvSpPr>
        <p:spPr bwMode="auto">
          <a:xfrm>
            <a:off x="640080" y="4901184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Citation guard on a free 8B model</a:t>
            </a:r>
            <a:endParaRPr/>
          </a:p>
        </p:txBody>
      </p:sp>
      <p:sp>
        <p:nvSpPr>
          <p:cNvPr id="1191761150" name="TextBox 15"/>
          <p:cNvSpPr txBox="1"/>
          <p:nvPr/>
        </p:nvSpPr>
        <p:spPr bwMode="auto">
          <a:xfrm>
            <a:off x="640080" y="5266944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200" b="0" i="0">
                <a:solidFill>
                  <a:srgbClr val="1A1A1A"/>
                </a:solidFill>
                <a:latin typeface="Segoe UI"/>
              </a:rPr>
              <a:t>Choice:  Parse KB-XXXXX from the model output, keep only retrieved ids, retry once with a stricter prompt, else mark `needs_review`.</a:t>
            </a:r>
            <a:endParaRPr/>
          </a:p>
        </p:txBody>
      </p:sp>
      <p:sp>
        <p:nvSpPr>
          <p:cNvPr id="1788135735" name="TextBox 16"/>
          <p:cNvSpPr txBox="1"/>
          <p:nvPr/>
        </p:nvSpPr>
        <p:spPr bwMode="auto">
          <a:xfrm>
            <a:off x="640080" y="567842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100" b="0" i="1">
                <a:solidFill>
                  <a:srgbClr val="555555"/>
                </a:solidFill>
                <a:latin typeface="Segoe UI"/>
              </a:rPr>
              <a:t>Alternative: a bigger model. Tradeoff: ~1 in 50 incidents pays one extra Groq call; in exchange, hallucinated policy citations are impossible, not just unlikely. The cheapest possible defence against the most common grounded-generation failure.</a:t>
            </a:r>
            <a:endParaRPr/>
          </a:p>
        </p:txBody>
      </p:sp>
      <p:sp>
        <p:nvSpPr>
          <p:cNvPr id="1420554782" name="TextBox 17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823650457" name="TextBox 18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6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787159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5. Ethical Considerations and Responsible AI  ·  ~1.5 min</a:t>
            </a:r>
            <a:endParaRPr/>
          </a:p>
        </p:txBody>
      </p:sp>
      <p:sp>
        <p:nvSpPr>
          <p:cNvPr id="238265774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Ethics, made concrete in the system</a:t>
            </a:r>
            <a:endParaRPr/>
          </a:p>
        </p:txBody>
      </p:sp>
      <p:sp>
        <p:nvSpPr>
          <p:cNvPr id="1014664642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Not a footnote — a code path, a test, a UI button</a:t>
            </a:r>
            <a:endParaRPr/>
          </a:p>
        </p:txBody>
      </p:sp>
      <p:sp>
        <p:nvSpPr>
          <p:cNvPr id="1000946948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graphicFrame>
        <p:nvGraphicFramePr>
          <p:cNvPr id="630266364" name="Table 5"/>
          <p:cNvGraphicFramePr>
            <a:graphicFrameLocks xmlns:a="http://schemas.openxmlformats.org/drawingml/2006/main" noGrp="1"/>
          </p:cNvGraphicFramePr>
          <p:nvPr/>
        </p:nvGraphicFramePr>
        <p:xfrm rot="0">
          <a:off x="457200" y="1554480"/>
          <a:ext cx="11247119" cy="420624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377440"/>
                <a:gridCol w="4114799"/>
                <a:gridCol w="4754880"/>
              </a:tblGrid>
              <a:tr h="84124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Why it matters here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the system does about it</a:t>
                      </a:r>
                      <a:endParaRPr/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84124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Misuse / fabricated authority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Surveillance + access data is sensitive; a model that invents a policy justification is the worst failure mode.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Citation guard (summarizer.py): KB-XXXXX must be in the retrieved set, else `needs_review`.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Accountability / auto-escalation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Escalation is irreversible — it dispatches security, suspends badges.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`case.close` is hard-blocked; `incident.escalate` requires human approval at risk_band_score ≥ 80.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  <a:tr h="84124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Transparency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Every incident must be traceable to a rule, a score, and a citation.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Per-rule provenance (`_rule`); raw cosine score returned (bonus is ordering-only); hash-chained audit log.</a:t>
                      </a:r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Calibration honesty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A rule with a 42% anomaly blind spot is a deployed lie unless surfaced.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Segoe UI"/>
                        </a:rPr>
                        <a:t>P2's recall@0.85 = 58% is asserted in `test_threshold_calibration.py`; the GUI shows the raw numbers.</a:t>
                      </a:r>
                      <a:endParaRPr/>
                    </a:p>
                  </a:txBody>
                  <a:tcPr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598555150" name="TextBox 6"/>
          <p:cNvSpPr txBox="1"/>
          <p:nvPr/>
        </p:nvSpPr>
        <p:spPr bwMode="auto"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300" b="0" i="1">
                <a:solidFill>
                  <a:srgbClr val="0B3D91"/>
                </a:solidFill>
                <a:latin typeface="Segoe UI"/>
              </a:rPr>
              <a:t>The system recommends and surfaces. The operator keeps judgment, override, and accountability.</a:t>
            </a:r>
            <a:endParaRPr/>
          </a:p>
        </p:txBody>
      </p:sp>
      <p:sp>
        <p:nvSpPr>
          <p:cNvPr id="810604046" name="TextBox 7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224700183" name="TextBox 8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7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446379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6. Evaluation, Limitations, and Risks  ·  ~2 min</a:t>
            </a:r>
            <a:endParaRPr/>
          </a:p>
        </p:txBody>
      </p:sp>
      <p:sp>
        <p:nvSpPr>
          <p:cNvPr id="266781175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What worked, what didn't, what's known to be wrong</a:t>
            </a:r>
            <a:endParaRPr/>
          </a:p>
        </p:txBody>
      </p:sp>
      <p:sp>
        <p:nvSpPr>
          <p:cNvPr id="1752813254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Strengths are real; limitations are surfaced, not hidden</a:t>
            </a:r>
            <a:endParaRPr/>
          </a:p>
        </p:txBody>
      </p:sp>
      <p:sp>
        <p:nvSpPr>
          <p:cNvPr id="1596040110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0320006" name="TextBox 5"/>
          <p:cNvSpPr txBox="1"/>
          <p:nvPr/>
        </p:nvSpPr>
        <p:spPr bwMode="auto"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Strengths</a:t>
            </a:r>
            <a:endParaRPr/>
          </a:p>
        </p:txBody>
      </p:sp>
      <p:sp>
        <p:nvSpPr>
          <p:cNvPr id="1831709024" name="TextBox 6"/>
          <p:cNvSpPr txBox="1"/>
          <p:nvPr/>
        </p:nvSpPr>
        <p:spPr bwMode="auto">
          <a:xfrm>
            <a:off x="457200" y="19202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Notebook: Restart &amp; Run All clean across 30 cells.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Tests: 34/34 green across 5 files (governance, policy, escalate-blocked, threshold-calibration, upload-adapter).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RAG self-check: every incident_type routes to its matching KB doc at rank 1.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Summarizer: 4/4 spot-check incidents cite the correct policy doc; 0 `needs_review`.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Operator UX: the same `run_incident_streaming` entry point powers CLI, notebook, pytest, and the GUI.</a:t>
            </a:r>
            <a:endParaRPr/>
          </a:p>
        </p:txBody>
      </p:sp>
      <p:sp>
        <p:nvSpPr>
          <p:cNvPr id="1241494256" name="TextBox 7"/>
          <p:cNvSpPr txBox="1"/>
          <p:nvPr/>
        </p:nvSpPr>
        <p:spPr bwMode="auto"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D93025"/>
                </a:solidFill>
                <a:latin typeface="Segoe UI"/>
              </a:rPr>
              <a:t>Limitations &amp; risks</a:t>
            </a:r>
            <a:endParaRPr/>
          </a:p>
        </p:txBody>
      </p:sp>
      <p:sp>
        <p:nvSpPr>
          <p:cNvPr id="1853251187" name="TextBox 8"/>
          <p:cNvSpPr txBox="1"/>
          <p:nvPr/>
        </p:nvSpPr>
        <p:spPr bwMode="auto">
          <a:xfrm>
            <a:off x="6309360" y="19202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Fusion recall@0.85 = 58% (P2 hard finding; surfaced to operators, not hidden).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Free 8B model occasionally invents kwarg names — handled by an arg-filtering wrapper.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Audit log carries an unrepaired break at an early sequence number; the GUI shows the warning honestly.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Data is P1's synthetic corpus, not a real SOC environment.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•  Streamlit GUI is local-only; no auth; per-session uploads live under data/uploads/{uuid}/.</a:t>
            </a:r>
            <a:endParaRPr/>
          </a:p>
        </p:txBody>
      </p:sp>
      <p:sp>
        <p:nvSpPr>
          <p:cNvPr id="71956855" name="Rectangle 9"/>
          <p:cNvSpPr/>
          <p:nvPr/>
        </p:nvSpPr>
        <p:spPr bwMode="auto">
          <a:xfrm>
            <a:off x="457200" y="5760720"/>
            <a:ext cx="11247120" cy="640080"/>
          </a:xfrm>
          <a:prstGeom prst="rect">
            <a:avLst/>
          </a:prstGeom>
          <a:solidFill>
            <a:srgbClr val="D93025"/>
          </a:solidFill>
          <a:ln w="6350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42359469" name="TextBox 10"/>
          <p:cNvSpPr txBox="1"/>
          <p:nvPr/>
        </p:nvSpPr>
        <p:spPr bwMode="auto"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Hard finding: the 0.85 threshold misses ~42% of anomaly events. Documented; not a deployable claim.</a:t>
            </a:r>
            <a:endParaRPr/>
          </a:p>
        </p:txBody>
      </p:sp>
      <p:sp>
        <p:nvSpPr>
          <p:cNvPr id="1544604160" name="TextBox 11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076388481" name="TextBox 12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8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514389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7. Professional Relevance and Next Steps  ·  ~1.5 min</a:t>
            </a:r>
            <a:endParaRPr/>
          </a:p>
        </p:txBody>
      </p:sp>
      <p:sp>
        <p:nvSpPr>
          <p:cNvPr id="417475063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What this shows about the work, and what's next</a:t>
            </a:r>
            <a:endParaRPr/>
          </a:p>
        </p:txBody>
      </p:sp>
      <p:sp>
        <p:nvSpPr>
          <p:cNvPr id="1344612411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System-level thinking · responsible engineering · reuse with discipline</a:t>
            </a:r>
            <a:endParaRPr/>
          </a:p>
        </p:txBody>
      </p:sp>
      <p:sp>
        <p:nvSpPr>
          <p:cNvPr id="742017877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28515928" name="TextBox 5"/>
          <p:cNvSpPr txBox="1"/>
          <p:nvPr/>
        </p:nvSpPr>
        <p:spPr bwMode="auto"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What this demonstrates</a:t>
            </a:r>
            <a:endParaRPr/>
          </a:p>
        </p:txBody>
      </p:sp>
      <p:sp>
        <p:nvSpPr>
          <p:cNvPr id="18822382" name="TextBox 6"/>
          <p:cNvSpPr txBox="1"/>
          <p:nvPr/>
        </p:nvSpPr>
        <p:spPr bwMode="auto">
          <a:xfrm>
            <a:off x="457200" y="192024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System-level thinking: five prior projects compose into one pipeline, not a collection of notebooks.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Responsible engineering under constraints: free-tier model + 5-doc KB + 0 dollars → category routing, citation guard, arg filtering.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Reuse with discipline: the governance spine is lifted, fixed, de-labeled, and guarded by a no-domain-imports test.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Defensible defaults: every metric in this deck is asserted in a test, not asserted in prose.</a:t>
            </a:r>
            <a:endParaRPr/>
          </a:p>
        </p:txBody>
      </p:sp>
      <p:sp>
        <p:nvSpPr>
          <p:cNvPr id="810793533" name="TextBox 7"/>
          <p:cNvSpPr txBox="1"/>
          <p:nvPr/>
        </p:nvSpPr>
        <p:spPr bwMode="auto"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Next steps (12-18 months)</a:t>
            </a:r>
            <a:endParaRPr/>
          </a:p>
        </p:txBody>
      </p:sp>
      <p:sp>
        <p:nvSpPr>
          <p:cNvPr id="1860467446" name="TextBox 8"/>
          <p:cNvSpPr txBox="1"/>
          <p:nvPr/>
        </p:nvSpPr>
        <p:spPr bwMode="auto">
          <a:xfrm>
            <a:off x="6309360" y="1920240"/>
            <a:ext cx="54864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Address the 58% recall finding: lower the threshold or add a complementary low-confidence rule.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Multi-vendor event-stream connectors (P1's corpus is synthetic, not a real environment).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Retrieval-level eval: a 10-row golden set + hit@k, before any model swap.</a:t>
            </a:r>
            <a:endParaRPr/>
          </a:p>
          <a:p>
            <a:pPr>
              <a:lnSpc>
                <a:spcPct val="114999"/>
              </a:lnSpc>
              <a:spcAft>
                <a:spcPts val="400"/>
              </a:spcAft>
              <a:defRPr/>
            </a:pPr>
            <a:r>
              <a:rPr sz="1400" b="0" i="0">
                <a:solidFill>
                  <a:srgbClr val="1A1A1A"/>
                </a:solidFill>
                <a:latin typeface="Segoe UI"/>
              </a:rPr>
              <a:t>•  Real auth for the Streamlit GUI: reverse proxy + OAuth; the GUI is local-only today.</a:t>
            </a:r>
            <a:endParaRPr/>
          </a:p>
        </p:txBody>
      </p:sp>
      <p:sp>
        <p:nvSpPr>
          <p:cNvPr id="1734380613" name="TextBox 9"/>
          <p:cNvSpPr txBox="1"/>
          <p:nvPr/>
        </p:nvSpPr>
        <p:spPr bwMode="auto">
          <a:xfrm>
            <a:off x="457200" y="6446520"/>
            <a:ext cx="7315919" cy="411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900" b="0" i="0" u="none" strike="noStrike" cap="none" spc="0">
                <a:solidFill>
                  <a:srgbClr val="555555"/>
                </a:solidFill>
                <a:latin typeface="Segoe UI"/>
                <a:ea typeface="Segoe UI"/>
                <a:cs typeface="Segoe UI"/>
              </a:rPr>
              <a:t>Project 7 — SOC Security Operations Copilot  —  Mohamed Soliman</a:t>
            </a:r>
            <a:endParaRPr sz="900"/>
          </a:p>
          <a:p>
            <a:pPr>
              <a:defRPr/>
            </a:pPr>
            <a:endParaRPr/>
          </a:p>
        </p:txBody>
      </p:sp>
      <p:sp>
        <p:nvSpPr>
          <p:cNvPr id="1356868376" name="TextBox 10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9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544405" name="TextBox 1"/>
          <p:cNvSpPr txBox="1"/>
          <p:nvPr/>
        </p:nvSpPr>
        <p:spPr bwMode="auto">
          <a:xfrm>
            <a:off x="457200" y="91440"/>
            <a:ext cx="11247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000" b="0" i="1">
                <a:solidFill>
                  <a:srgbClr val="555555"/>
                </a:solidFill>
                <a:latin typeface="Segoe UI"/>
              </a:rPr>
              <a:t>Defense  ·  questions I'm ready for</a:t>
            </a:r>
            <a:endParaRPr/>
          </a:p>
        </p:txBody>
      </p:sp>
      <p:sp>
        <p:nvSpPr>
          <p:cNvPr id="273716790" name="TextBox 2"/>
          <p:cNvSpPr txBox="1"/>
          <p:nvPr/>
        </p:nvSpPr>
        <p:spPr bwMode="auto">
          <a:xfrm>
            <a:off x="457200" y="32004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2800" b="1" i="0">
                <a:solidFill>
                  <a:srgbClr val="0B3D91"/>
                </a:solidFill>
                <a:latin typeface="Segoe UI"/>
              </a:rPr>
              <a:t>Three questions I expect — and the short answer</a:t>
            </a:r>
            <a:endParaRPr/>
          </a:p>
        </p:txBody>
      </p:sp>
      <p:sp>
        <p:nvSpPr>
          <p:cNvPr id="248056886" name="TextBox 3"/>
          <p:cNvSpPr txBox="1"/>
          <p:nvPr/>
        </p:nvSpPr>
        <p:spPr bwMode="auto"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400" b="0" i="1">
                <a:solidFill>
                  <a:srgbClr val="555555"/>
                </a:solidFill>
                <a:latin typeface="Segoe UI"/>
              </a:rPr>
              <a:t>If you only have 30 seconds for each, here they are</a:t>
            </a:r>
            <a:endParaRPr/>
          </a:p>
        </p:txBody>
      </p:sp>
      <p:sp>
        <p:nvSpPr>
          <p:cNvPr id="1733424973" name="Rectangle 4"/>
          <p:cNvSpPr/>
          <p:nvPr/>
        </p:nvSpPr>
        <p:spPr bwMode="auto">
          <a:xfrm>
            <a:off x="457200" y="1325880"/>
            <a:ext cx="11247120" cy="9525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7415059" name="Rectangle 5"/>
          <p:cNvSpPr/>
          <p:nvPr/>
        </p:nvSpPr>
        <p:spPr bwMode="auto">
          <a:xfrm>
            <a:off x="457200" y="1645920"/>
            <a:ext cx="11247120" cy="13716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9105617" name="TextBox 6"/>
          <p:cNvSpPr txBox="1"/>
          <p:nvPr/>
        </p:nvSpPr>
        <p:spPr bwMode="auto">
          <a:xfrm>
            <a:off x="640080" y="1755648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Q.  Why rules-first, not an ML scorer?</a:t>
            </a:r>
            <a:endParaRPr/>
          </a:p>
        </p:txBody>
      </p:sp>
      <p:sp>
        <p:nvSpPr>
          <p:cNvPr id="69127758" name="TextBox 7"/>
          <p:cNvSpPr txBox="1"/>
          <p:nvPr/>
        </p:nvSpPr>
        <p:spPr bwMode="auto">
          <a:xfrm>
            <a:off x="640080" y="214884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A.  Auditability. Every incident carries the firing rule. The ML scorer is a swap-in behind the same `risk_scorer.py` interface when the rule layer earns its keep — and the P2 calibration test confirms the cost honestly.</a:t>
            </a:r>
            <a:endParaRPr/>
          </a:p>
        </p:txBody>
      </p:sp>
      <p:sp>
        <p:nvSpPr>
          <p:cNvPr id="113995616" name="Rectangle 8"/>
          <p:cNvSpPr/>
          <p:nvPr/>
        </p:nvSpPr>
        <p:spPr bwMode="auto">
          <a:xfrm>
            <a:off x="457200" y="3127248"/>
            <a:ext cx="11247120" cy="13716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922354" name="TextBox 9"/>
          <p:cNvSpPr txBox="1"/>
          <p:nvPr/>
        </p:nvSpPr>
        <p:spPr bwMode="auto">
          <a:xfrm>
            <a:off x="640080" y="3236976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Q.  What would break in production?</a:t>
            </a:r>
            <a:endParaRPr/>
          </a:p>
        </p:txBody>
      </p:sp>
      <p:sp>
        <p:nvSpPr>
          <p:cNvPr id="707751935" name="TextBox 10"/>
          <p:cNvSpPr txBox="1"/>
          <p:nvPr/>
        </p:nvSpPr>
        <p:spPr bwMode="auto">
          <a:xfrm>
            <a:off x="640080" y="363016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A.  The Streamlit GUI has no auth (it's a dev tool); the audit chain has an unrepaired early break; the fusion threshold misses ~42% of anomaly events. Each is a known and tested boundary, not a hidden risk.</a:t>
            </a:r>
            <a:endParaRPr/>
          </a:p>
        </p:txBody>
      </p:sp>
      <p:sp>
        <p:nvSpPr>
          <p:cNvPr id="124897892" name="Rectangle 11"/>
          <p:cNvSpPr/>
          <p:nvPr/>
        </p:nvSpPr>
        <p:spPr bwMode="auto">
          <a:xfrm>
            <a:off x="457200" y="4608576"/>
            <a:ext cx="11247120" cy="1371600"/>
          </a:xfrm>
          <a:prstGeom prst="rect">
            <a:avLst/>
          </a:prstGeom>
          <a:solidFill>
            <a:srgbClr val="F3F5F8"/>
          </a:solidFill>
          <a:ln w="9525">
            <a:solidFill>
              <a:srgbClr val="D6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5335307" name="TextBox 12"/>
          <p:cNvSpPr txBox="1"/>
          <p:nvPr/>
        </p:nvSpPr>
        <p:spPr bwMode="auto">
          <a:xfrm>
            <a:off x="640080" y="4718304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500" b="1" i="0">
                <a:solidFill>
                  <a:srgbClr val="0B3D91"/>
                </a:solidFill>
                <a:latin typeface="Segoe UI"/>
              </a:rPr>
              <a:t>Q.  Why is your RAG just dense + MMR, not hybrid?</a:t>
            </a:r>
            <a:endParaRPr/>
          </a:p>
        </p:txBody>
      </p:sp>
      <p:sp>
        <p:nvSpPr>
          <p:cNvPr id="207424679" name="TextBox 13"/>
          <p:cNvSpPr txBox="1"/>
          <p:nvPr/>
        </p:nvSpPr>
        <p:spPr bwMode="auto">
          <a:xfrm>
            <a:off x="640080" y="5111496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sz="1300" b="0" i="0">
                <a:solidFill>
                  <a:srgbClr val="1A1A1A"/>
                </a:solidFill>
                <a:latin typeface="Segoe UI"/>
              </a:rPr>
              <a:t>A.  The KB is 5 documents. BM25, a cross-encoder, and a query-rewrite LLM are the right next step when the KB grows past a few hundred docs, not today. Category routing fixes the shared-vocabulary mis-ranking cheaply at this scale.</a:t>
            </a:r>
            <a:endParaRPr/>
          </a:p>
        </p:txBody>
      </p:sp>
      <p:sp>
        <p:nvSpPr>
          <p:cNvPr id="294177522" name="TextBox 14"/>
          <p:cNvSpPr txBox="1"/>
          <p:nvPr/>
        </p:nvSpPr>
        <p:spPr bwMode="auto"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sz="1400" b="0" i="1">
                <a:solidFill>
                  <a:srgbClr val="0B3D91"/>
                </a:solidFill>
                <a:latin typeface="Segoe UI"/>
              </a:rPr>
              <a:t>The copilot doesn't replace the operator. It replaces the part of the shift that's a typist, a log-stitcher, and a 3 a.m. paragraph-writer.</a:t>
            </a:r>
            <a:endParaRPr/>
          </a:p>
        </p:txBody>
      </p:sp>
      <p:sp>
        <p:nvSpPr>
          <p:cNvPr id="1858288942" name="TextBox 16"/>
          <p:cNvSpPr txBox="1"/>
          <p:nvPr/>
        </p:nvSpPr>
        <p:spPr bwMode="auto"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555555"/>
                </a:solidFill>
                <a:latin typeface="Segoe UI"/>
              </a:rPr>
              <a:t>10 / 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3</cp:revision>
  <dcterms:created xsi:type="dcterms:W3CDTF">2013-01-27T09:14:16Z</dcterms:created>
  <dcterms:modified xsi:type="dcterms:W3CDTF">2026-07-19T19:26:55Z</dcterms:modified>
  <cp:category/>
</cp:coreProperties>
</file>